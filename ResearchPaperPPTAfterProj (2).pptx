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1" r:id="rId3"/>
    <p:sldId id="275" r:id="rId4"/>
    <p:sldId id="280" r:id="rId5"/>
    <p:sldId id="272" r:id="rId6"/>
    <p:sldId id="281" r:id="rId7"/>
    <p:sldId id="257" r:id="rId8"/>
    <p:sldId id="258" r:id="rId9"/>
    <p:sldId id="283" r:id="rId10"/>
    <p:sldId id="259" r:id="rId11"/>
    <p:sldId id="260" r:id="rId12"/>
    <p:sldId id="285" r:id="rId13"/>
    <p:sldId id="286" r:id="rId14"/>
    <p:sldId id="279" r:id="rId15"/>
    <p:sldId id="27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1" d="100"/>
          <a:sy n="101" d="100"/>
        </p:scale>
        <p:origin x="99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3F4F37-EA80-4DC0-B88F-141BC46EDA63}"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D78A19-EAAC-4047-B5BC-C36F858CE41C}" type="slidenum">
              <a:rPr lang="en-US" smtClean="0"/>
              <a:t>‹#›</a:t>
            </a:fld>
            <a:endParaRPr lang="en-US"/>
          </a:p>
        </p:txBody>
      </p:sp>
    </p:spTree>
    <p:extLst>
      <p:ext uri="{BB962C8B-B14F-4D97-AF65-F5344CB8AC3E}">
        <p14:creationId xmlns:p14="http://schemas.microsoft.com/office/powerpoint/2010/main" val="1070600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0D78A19-EAAC-4047-B5BC-C36F858CE41C}" type="slidenum">
              <a:rPr lang="en-US" smtClean="0"/>
              <a:t>7</a:t>
            </a:fld>
            <a:endParaRPr lang="en-US"/>
          </a:p>
        </p:txBody>
      </p:sp>
    </p:spTree>
    <p:extLst>
      <p:ext uri="{BB962C8B-B14F-4D97-AF65-F5344CB8AC3E}">
        <p14:creationId xmlns:p14="http://schemas.microsoft.com/office/powerpoint/2010/main" val="738444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25231-1CB1-E94F-AFB8-4A550E0FAC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B9DC895-D385-DD7A-2804-B374D1F8E2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F3F9B29-7AB3-DD7B-2330-A592BBC5693A}"/>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7689C2B0-8693-B7AC-4680-D194BD6325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401970-EA7F-50D9-A3D0-3D39A2AB393A}"/>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109912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76C71-BE7F-D0F9-EAD7-938A9E555E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77D6F1A-7668-98E9-5168-ABEDCA71E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CC975B-C2F4-8746-BBDC-A2746EBABA84}"/>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30381B2C-333B-1BE3-B1D9-4C7B99E716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3DE02B-E70A-4613-BB81-81199F05A3C0}"/>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973371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8E58B-29DE-9637-EA69-5AA77EE2C9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25D3C1-CBC8-B75B-3906-0AEEE9FD4E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7B9B69-F151-21FF-A467-09669EE2F0DD}"/>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4AA02128-116A-FC4B-69BC-076CA4660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AF5E7A-8313-2D2F-1A26-F224429D3981}"/>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310972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C90F0-C65E-E672-74C0-6D94E649BA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D322D5-A46F-3719-98C4-8DCB22D2BD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234F91-0143-35B7-D3A8-3C99CDA1E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B021EE-7BE6-64CC-053A-52763EA872F2}"/>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6" name="Footer Placeholder 5">
            <a:extLst>
              <a:ext uri="{FF2B5EF4-FFF2-40B4-BE49-F238E27FC236}">
                <a16:creationId xmlns:a16="http://schemas.microsoft.com/office/drawing/2014/main" id="{BA2FC1FE-83F7-A40F-CF47-83E954A780E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CC462E-B311-5E6B-789D-EBE13DD1E27D}"/>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2164801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9AC88-624E-5570-BD3B-42E564CF7A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C8D568-0D03-E0D5-1CB2-4B2AE8225D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DBEEF5-6809-5768-199C-DD6B24FA12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2E07F8-BC77-CD43-C7EC-33E72EA98C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3976E6-D7E8-B0D9-D312-19DEA4A442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8CD86AB-D545-D2B2-A0AE-AE7B351561A2}"/>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8" name="Footer Placeholder 7">
            <a:extLst>
              <a:ext uri="{FF2B5EF4-FFF2-40B4-BE49-F238E27FC236}">
                <a16:creationId xmlns:a16="http://schemas.microsoft.com/office/drawing/2014/main" id="{D4055493-72DB-B4F7-C810-690DD84751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05D135-8E8F-3847-A1DF-BD9F1CC13180}"/>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965721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0078-55F3-3B2C-5233-1F9D1422A0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978FED-AD18-8C18-B228-7B52F7816980}"/>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4" name="Footer Placeholder 3">
            <a:extLst>
              <a:ext uri="{FF2B5EF4-FFF2-40B4-BE49-F238E27FC236}">
                <a16:creationId xmlns:a16="http://schemas.microsoft.com/office/drawing/2014/main" id="{B06F33A5-9B92-E143-BB9A-DEBE8B4315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092186-598B-70E7-2F83-4FB31BCDE986}"/>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21342103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36D4E0-761B-3F55-C55C-FF2CB22F5A97}"/>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3" name="Footer Placeholder 2">
            <a:extLst>
              <a:ext uri="{FF2B5EF4-FFF2-40B4-BE49-F238E27FC236}">
                <a16:creationId xmlns:a16="http://schemas.microsoft.com/office/drawing/2014/main" id="{87551B7C-C05E-B14C-1CF4-A5646B04F0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765755-6910-3F6D-17A0-49C62863EB56}"/>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1249953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131E3-B176-5EF1-1039-6F57580A43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5ED9B1-A0BE-E437-87A4-4B19638449A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FC2A82-3C9F-B5F7-5816-49329E4CC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03762EC-F9D7-86A6-B622-C6F7A4C2E76D}"/>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6" name="Footer Placeholder 5">
            <a:extLst>
              <a:ext uri="{FF2B5EF4-FFF2-40B4-BE49-F238E27FC236}">
                <a16:creationId xmlns:a16="http://schemas.microsoft.com/office/drawing/2014/main" id="{6BE7DE03-7063-2732-77C5-476AA68786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3FA288-8A22-F844-48AA-564A632FB2DA}"/>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22360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1D37-6E65-F6DE-8E5D-407CEAE36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C52EC2-3BD9-E072-8914-C482845C80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47C54A-EA05-FE93-8ABF-3951517572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05A7E5-B8A3-BE2F-F56F-FA3FCA341F48}"/>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6" name="Footer Placeholder 5">
            <a:extLst>
              <a:ext uri="{FF2B5EF4-FFF2-40B4-BE49-F238E27FC236}">
                <a16:creationId xmlns:a16="http://schemas.microsoft.com/office/drawing/2014/main" id="{F90FE97D-5B85-90AC-B346-820E71B8D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3B735A-3B28-1CCB-05CC-332A2EC16041}"/>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2343333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77CB-07A6-09C4-32EC-763779D528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97ABAB-9011-DE75-94F5-A996296029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562DB9-1370-8B13-6705-24BFADB61F34}"/>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2393D9AC-24E7-F641-28FB-C1DFFDDC96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BC4B55-6C0A-5684-4D53-0742AA394347}"/>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3404877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0C0F47-B131-00B8-4D83-9D647817A8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8B9178-C816-4784-8051-9A46684E53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B9586-F43A-FF28-6545-71ADB9EC27D8}"/>
              </a:ext>
            </a:extLst>
          </p:cNvPr>
          <p:cNvSpPr>
            <a:spLocks noGrp="1"/>
          </p:cNvSpPr>
          <p:nvPr>
            <p:ph type="dt" sz="half" idx="10"/>
          </p:nvPr>
        </p:nvSpPr>
        <p:spPr/>
        <p:txBody>
          <a:body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C0E5839C-9A81-0C37-19FA-D040513A44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DCD8C5-3A76-5B90-B9B1-B67C1830C692}"/>
              </a:ext>
            </a:extLst>
          </p:cNvPr>
          <p:cNvSpPr>
            <a:spLocks noGrp="1"/>
          </p:cNvSpPr>
          <p:nvPr>
            <p:ph type="sldNum" sz="quarter" idx="12"/>
          </p:nvPr>
        </p:nvSpPr>
        <p:spPr/>
        <p:txBody>
          <a:bodyPr/>
          <a:lstStyle/>
          <a:p>
            <a:fld id="{22A4D63E-B7F3-4D77-B266-DEB589E2CD63}" type="slidenum">
              <a:rPr lang="en-US" smtClean="0"/>
              <a:t>‹#›</a:t>
            </a:fld>
            <a:endParaRPr lang="en-US"/>
          </a:p>
        </p:txBody>
      </p:sp>
    </p:spTree>
    <p:extLst>
      <p:ext uri="{BB962C8B-B14F-4D97-AF65-F5344CB8AC3E}">
        <p14:creationId xmlns:p14="http://schemas.microsoft.com/office/powerpoint/2010/main" val="740700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77AA56-D8F1-3163-A6D8-AE60208D32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5E2DA6-7BDC-BE9F-84CF-D3C256C915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BF892A-86F7-25D1-CC78-F165CFB181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8FF238-2814-4D34-9B92-D7E530FFB32D}" type="datetimeFigureOut">
              <a:rPr lang="en-US" smtClean="0"/>
              <a:t>11/6/2025</a:t>
            </a:fld>
            <a:endParaRPr lang="en-US"/>
          </a:p>
        </p:txBody>
      </p:sp>
      <p:sp>
        <p:nvSpPr>
          <p:cNvPr id="5" name="Footer Placeholder 4">
            <a:extLst>
              <a:ext uri="{FF2B5EF4-FFF2-40B4-BE49-F238E27FC236}">
                <a16:creationId xmlns:a16="http://schemas.microsoft.com/office/drawing/2014/main" id="{1C56D0C3-FCE1-1A7D-9FB5-CF6B163AD7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50392C-3394-FB4D-F73E-43EB4804A8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A4D63E-B7F3-4D77-B266-DEB589E2CD63}" type="slidenum">
              <a:rPr lang="en-US" smtClean="0"/>
              <a:t>‹#›</a:t>
            </a:fld>
            <a:endParaRPr lang="en-US"/>
          </a:p>
        </p:txBody>
      </p:sp>
    </p:spTree>
    <p:extLst>
      <p:ext uri="{BB962C8B-B14F-4D97-AF65-F5344CB8AC3E}">
        <p14:creationId xmlns:p14="http://schemas.microsoft.com/office/powerpoint/2010/main" val="3977905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8B606A-8319-FB4A-56AB-D998FE60B606}"/>
              </a:ext>
            </a:extLst>
          </p:cNvPr>
          <p:cNvPicPr>
            <a:picLocks noChangeAspect="1"/>
          </p:cNvPicPr>
          <p:nvPr/>
        </p:nvPicPr>
        <p:blipFill>
          <a:blip r:embed="rId2"/>
          <a:stretch>
            <a:fillRect/>
          </a:stretch>
        </p:blipFill>
        <p:spPr>
          <a:xfrm>
            <a:off x="254780" y="221162"/>
            <a:ext cx="1286569" cy="1078249"/>
          </a:xfrm>
          <a:prstGeom prst="rect">
            <a:avLst/>
          </a:prstGeom>
        </p:spPr>
      </p:pic>
      <p:sp>
        <p:nvSpPr>
          <p:cNvPr id="10" name="TextBox 9">
            <a:extLst>
              <a:ext uri="{FF2B5EF4-FFF2-40B4-BE49-F238E27FC236}">
                <a16:creationId xmlns:a16="http://schemas.microsoft.com/office/drawing/2014/main" id="{A33F7DFF-2355-194E-9257-1D4CAF075FB3}"/>
              </a:ext>
            </a:extLst>
          </p:cNvPr>
          <p:cNvSpPr txBox="1"/>
          <p:nvPr/>
        </p:nvSpPr>
        <p:spPr>
          <a:xfrm>
            <a:off x="1933144" y="3112500"/>
            <a:ext cx="8346163" cy="1443458"/>
          </a:xfrm>
          <a:prstGeom prst="rect">
            <a:avLst/>
          </a:prstGeom>
          <a:noFill/>
        </p:spPr>
        <p:txBody>
          <a:bodyPr wrap="square" lIns="91440" tIns="45720" rIns="91440" bIns="45720" anchor="t">
            <a:noAutofit/>
          </a:bodyPr>
          <a:lstStyle/>
          <a:p>
            <a:pPr lvl="0" algn="ctr">
              <a:defRPr/>
            </a:pPr>
            <a:r>
              <a:rPr lang="en-US" sz="2000" b="1" dirty="0">
                <a:solidFill>
                  <a:prstClr val="black"/>
                </a:solidFill>
                <a:latin typeface="Times New Roman"/>
                <a:cs typeface="Times New Roman"/>
              </a:rPr>
              <a:t>AUTHORS:</a:t>
            </a:r>
          </a:p>
          <a:p>
            <a:pPr algn="ctr">
              <a:lnSpc>
                <a:spcPct val="150000"/>
              </a:lnSpc>
              <a:defRPr/>
            </a:pPr>
            <a:r>
              <a:rPr lang="en-US" sz="2000" dirty="0">
                <a:solidFill>
                  <a:prstClr val="black"/>
                </a:solidFill>
                <a:latin typeface="Times New Roman"/>
                <a:cs typeface="Times New Roman"/>
              </a:rPr>
              <a:t>CHANDHRA NAIK, AKHIFA SHEIK,APOORVACHARAN KUMAR V</a:t>
            </a:r>
          </a:p>
          <a:p>
            <a:pPr algn="ctr">
              <a:lnSpc>
                <a:spcPct val="150000"/>
              </a:lnSpc>
              <a:defRPr/>
            </a:pPr>
            <a:r>
              <a:rPr lang="en-US" sz="2000" dirty="0">
                <a:solidFill>
                  <a:prstClr val="black"/>
                </a:solidFill>
                <a:latin typeface="Times New Roman"/>
                <a:cs typeface="Times New Roman"/>
              </a:rPr>
              <a:t>CHETHAN D B</a:t>
            </a:r>
          </a:p>
        </p:txBody>
      </p:sp>
      <p:sp>
        <p:nvSpPr>
          <p:cNvPr id="22" name="TextBox 21">
            <a:extLst>
              <a:ext uri="{FF2B5EF4-FFF2-40B4-BE49-F238E27FC236}">
                <a16:creationId xmlns:a16="http://schemas.microsoft.com/office/drawing/2014/main" id="{43075EB3-23E7-1CA6-8FE2-5BA6E11AA956}"/>
              </a:ext>
            </a:extLst>
          </p:cNvPr>
          <p:cNvSpPr txBox="1"/>
          <p:nvPr/>
        </p:nvSpPr>
        <p:spPr>
          <a:xfrm>
            <a:off x="1220141" y="591160"/>
            <a:ext cx="9633622" cy="1815882"/>
          </a:xfrm>
          <a:prstGeom prst="rect">
            <a:avLst/>
          </a:prstGeom>
          <a:noFill/>
        </p:spPr>
        <p:txBody>
          <a:bodyPr wrap="square" lIns="91440" tIns="45720" rIns="91440" bIns="45720" anchor="t">
            <a:spAutoFit/>
          </a:bodyPr>
          <a:lstStyle/>
          <a:p>
            <a:pPr algn="ctr"/>
            <a:r>
              <a:rPr lang="en-GB" sz="2800" b="1" dirty="0">
                <a:latin typeface="Times New Roman" panose="02020603050405020304" pitchFamily="18" charset="0"/>
                <a:cs typeface="Times New Roman" panose="02020603050405020304" pitchFamily="18" charset="0"/>
              </a:rPr>
              <a:t>AI MODEL FOR AUTOMATED CONTENT MODERATION:INTERGRATING HUGGING FACE MODEL FOR TEXT AND IMAGE PROCESSING</a:t>
            </a:r>
          </a:p>
          <a:p>
            <a:pPr algn="ctr"/>
            <a:endParaRPr lang="en-GB" sz="28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96DEE13-CC99-5DF2-2A20-7DF229EE6D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9307" y="1264749"/>
            <a:ext cx="1912693" cy="1214085"/>
          </a:xfrm>
          <a:prstGeom prst="rect">
            <a:avLst/>
          </a:prstGeom>
        </p:spPr>
      </p:pic>
      <p:pic>
        <p:nvPicPr>
          <p:cNvPr id="14" name="Picture 13">
            <a:extLst>
              <a:ext uri="{FF2B5EF4-FFF2-40B4-BE49-F238E27FC236}">
                <a16:creationId xmlns:a16="http://schemas.microsoft.com/office/drawing/2014/main" id="{E6303795-7E04-5E45-C71E-B1BF5CCF206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05931" y="465371"/>
            <a:ext cx="1659444" cy="589829"/>
          </a:xfrm>
          <a:prstGeom prst="rect">
            <a:avLst/>
          </a:prstGeom>
        </p:spPr>
      </p:pic>
      <p:pic>
        <p:nvPicPr>
          <p:cNvPr id="16" name="Picture 15">
            <a:extLst>
              <a:ext uri="{FF2B5EF4-FFF2-40B4-BE49-F238E27FC236}">
                <a16:creationId xmlns:a16="http://schemas.microsoft.com/office/drawing/2014/main" id="{0414C87F-4075-B329-64CF-50B4187B55C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230" y="1698790"/>
            <a:ext cx="1023668" cy="1023668"/>
          </a:xfrm>
          <a:prstGeom prst="rect">
            <a:avLst/>
          </a:prstGeom>
        </p:spPr>
      </p:pic>
      <p:sp>
        <p:nvSpPr>
          <p:cNvPr id="18" name="TextBox 17">
            <a:extLst>
              <a:ext uri="{FF2B5EF4-FFF2-40B4-BE49-F238E27FC236}">
                <a16:creationId xmlns:a16="http://schemas.microsoft.com/office/drawing/2014/main" id="{E968AD9C-1D25-4A0F-F6C5-AAC9EE79B4A4}"/>
              </a:ext>
            </a:extLst>
          </p:cNvPr>
          <p:cNvSpPr txBox="1"/>
          <p:nvPr/>
        </p:nvSpPr>
        <p:spPr>
          <a:xfrm>
            <a:off x="2498106" y="4699543"/>
            <a:ext cx="7781201" cy="1015663"/>
          </a:xfrm>
          <a:prstGeom prst="rect">
            <a:avLst/>
          </a:prstGeom>
          <a:noFill/>
        </p:spPr>
        <p:txBody>
          <a:bodyPr wrap="square">
            <a:spAutoFit/>
          </a:bodyPr>
          <a:lstStyle/>
          <a:p>
            <a:pPr algn="ctr"/>
            <a:r>
              <a:rPr lang="en-US" sz="2000" b="1" dirty="0">
                <a:latin typeface="Times New Roman" panose="02020603050405020304" pitchFamily="18" charset="0"/>
                <a:cs typeface="Times New Roman" panose="02020603050405020304" pitchFamily="18" charset="0"/>
              </a:rPr>
              <a:t>DEPARTMENT OF CSE,</a:t>
            </a:r>
          </a:p>
          <a:p>
            <a:pPr algn="ctr"/>
            <a:r>
              <a:rPr lang="en-US" sz="2000" b="1" dirty="0">
                <a:latin typeface="Times New Roman" panose="02020603050405020304" pitchFamily="18" charset="0"/>
                <a:cs typeface="Times New Roman" panose="02020603050405020304" pitchFamily="18" charset="0"/>
              </a:rPr>
              <a:t>ALVA’S INSTITUTE OF ENGINEERING AND TECHNOLOGY,</a:t>
            </a:r>
          </a:p>
          <a:p>
            <a:pPr algn="ctr"/>
            <a:r>
              <a:rPr lang="en-US" sz="2000" b="1" dirty="0">
                <a:latin typeface="Times New Roman" panose="02020603050405020304" pitchFamily="18" charset="0"/>
                <a:cs typeface="Times New Roman" panose="02020603050405020304" pitchFamily="18" charset="0"/>
              </a:rPr>
              <a:t>MOODBIDRI,KARNATAKA,INDIA.</a:t>
            </a:r>
          </a:p>
        </p:txBody>
      </p:sp>
      <p:sp>
        <p:nvSpPr>
          <p:cNvPr id="20" name="TextBox 19">
            <a:extLst>
              <a:ext uri="{FF2B5EF4-FFF2-40B4-BE49-F238E27FC236}">
                <a16:creationId xmlns:a16="http://schemas.microsoft.com/office/drawing/2014/main" id="{05A51F11-4569-B4A6-53D0-BCF10C3103A2}"/>
              </a:ext>
            </a:extLst>
          </p:cNvPr>
          <p:cNvSpPr txBox="1"/>
          <p:nvPr/>
        </p:nvSpPr>
        <p:spPr>
          <a:xfrm>
            <a:off x="3764077" y="2166529"/>
            <a:ext cx="4684295" cy="825675"/>
          </a:xfrm>
          <a:prstGeom prst="rect">
            <a:avLst/>
          </a:prstGeom>
          <a:noFill/>
        </p:spPr>
        <p:txBody>
          <a:bodyPr wrap="square">
            <a:spAutoFit/>
          </a:bodyPr>
          <a:lstStyle/>
          <a:p>
            <a:pPr algn="ctr">
              <a:lnSpc>
                <a:spcPts val="7000"/>
              </a:lnSpc>
              <a:spcBef>
                <a:spcPct val="0"/>
              </a:spcBef>
            </a:pPr>
            <a:r>
              <a:rPr lang="en-US" sz="2000" b="1" dirty="0">
                <a:latin typeface="Times New Roman Bold" panose="02030802070405020303"/>
              </a:rPr>
              <a:t>ACCEPTANCE ID : </a:t>
            </a:r>
            <a:r>
              <a:rPr lang="en-IN" sz="2000" b="1" dirty="0">
                <a:latin typeface="Times New Roman" panose="02020603050405020304" pitchFamily="18" charset="0"/>
                <a:cs typeface="Times New Roman" panose="02020603050405020304" pitchFamily="18" charset="0"/>
              </a:rPr>
              <a:t>ICECA-131</a:t>
            </a:r>
            <a:endParaRPr lang="en-US" sz="2000" b="1" dirty="0">
              <a:latin typeface="Times New Roman" panose="02020603050405020304" pitchFamily="18" charset="0"/>
              <a:cs typeface="Times New Roman" panose="02020603050405020304" pitchFamily="18" charset="0"/>
            </a:endParaRPr>
          </a:p>
        </p:txBody>
      </p:sp>
      <p:sp>
        <p:nvSpPr>
          <p:cNvPr id="21" name="TextBox 8">
            <a:extLst>
              <a:ext uri="{FF2B5EF4-FFF2-40B4-BE49-F238E27FC236}">
                <a16:creationId xmlns:a16="http://schemas.microsoft.com/office/drawing/2014/main" id="{DD773A0F-D2F2-0488-DD46-982379A684B0}"/>
              </a:ext>
            </a:extLst>
          </p:cNvPr>
          <p:cNvSpPr txBox="1"/>
          <p:nvPr/>
        </p:nvSpPr>
        <p:spPr>
          <a:xfrm>
            <a:off x="110487" y="6294950"/>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06/11/2025</a:t>
            </a:r>
          </a:p>
        </p:txBody>
      </p:sp>
      <p:sp>
        <p:nvSpPr>
          <p:cNvPr id="24" name="TextBox 8">
            <a:extLst>
              <a:ext uri="{FF2B5EF4-FFF2-40B4-BE49-F238E27FC236}">
                <a16:creationId xmlns:a16="http://schemas.microsoft.com/office/drawing/2014/main" id="{DD3E6F84-A33C-8C80-EAB2-B60CC8C8ECC5}"/>
              </a:ext>
            </a:extLst>
          </p:cNvPr>
          <p:cNvSpPr txBox="1"/>
          <p:nvPr/>
        </p:nvSpPr>
        <p:spPr>
          <a:xfrm>
            <a:off x="5720434" y="6294950"/>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8131055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D28AB-A620-9F6E-A158-7C926B02A788}"/>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7A93BE38-160D-AA38-EABC-AF3D89906176}"/>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2EC856B3-13EB-C3D7-0315-3B82820F2B3A}"/>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3488A3AC-A9E3-7E67-5ABC-C14E98451B56}"/>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7B531081-8898-EDAB-344B-A75AD5E070DF}"/>
              </a:ext>
            </a:extLst>
          </p:cNvPr>
          <p:cNvSpPr txBox="1"/>
          <p:nvPr/>
        </p:nvSpPr>
        <p:spPr>
          <a:xfrm>
            <a:off x="3971520" y="1154303"/>
            <a:ext cx="318524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INTRODUCTION</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12" name="Rectangle 5">
            <a:extLst>
              <a:ext uri="{FF2B5EF4-FFF2-40B4-BE49-F238E27FC236}">
                <a16:creationId xmlns:a16="http://schemas.microsoft.com/office/drawing/2014/main" id="{F0851D2F-CBEB-81C3-BD14-01B196907483}"/>
              </a:ext>
            </a:extLst>
          </p:cNvPr>
          <p:cNvSpPr>
            <a:spLocks noGrp="1" noChangeArrowheads="1"/>
          </p:cNvSpPr>
          <p:nvPr>
            <p:ph idx="1"/>
          </p:nvPr>
        </p:nvSpPr>
        <p:spPr bwMode="auto">
          <a:xfrm>
            <a:off x="323275" y="1809353"/>
            <a:ext cx="6579943"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builds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AI-driven multimodal content moderation system</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social media.</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integrates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(text)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Vision Transformer (images)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a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fusion-based classifier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model detects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toxic text, offensive memes, and unsafe imagery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real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fair, and explainable moderation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safe digital spaces.</a:t>
            </a:r>
          </a:p>
        </p:txBody>
      </p:sp>
      <p:pic>
        <p:nvPicPr>
          <p:cNvPr id="14" name="Picture 13">
            <a:extLst>
              <a:ext uri="{FF2B5EF4-FFF2-40B4-BE49-F238E27FC236}">
                <a16:creationId xmlns:a16="http://schemas.microsoft.com/office/drawing/2014/main" id="{9660DE4E-138B-B062-F659-9C07BE9B094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266039" y="1677523"/>
            <a:ext cx="4444180" cy="4422913"/>
          </a:xfrm>
          <a:prstGeom prst="rect">
            <a:avLst/>
          </a:prstGeom>
        </p:spPr>
      </p:pic>
      <p:sp>
        <p:nvSpPr>
          <p:cNvPr id="2" name="TextBox 8">
            <a:extLst>
              <a:ext uri="{FF2B5EF4-FFF2-40B4-BE49-F238E27FC236}">
                <a16:creationId xmlns:a16="http://schemas.microsoft.com/office/drawing/2014/main" id="{520079B3-847E-6A28-9B56-841DFA2120F3}"/>
              </a:ext>
            </a:extLst>
          </p:cNvPr>
          <p:cNvSpPr txBox="1"/>
          <p:nvPr/>
        </p:nvSpPr>
        <p:spPr>
          <a:xfrm>
            <a:off x="5566674" y="6373026"/>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1056178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68A7-9631-5792-B1FB-2C36098C02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C7BB1-F080-9BA8-D1A8-AAE0B20D3637}"/>
              </a:ext>
            </a:extLst>
          </p:cNvPr>
          <p:cNvSpPr>
            <a:spLocks noGrp="1"/>
          </p:cNvSpPr>
          <p:nvPr>
            <p:ph idx="1"/>
          </p:nvPr>
        </p:nvSpPr>
        <p:spPr>
          <a:xfrm>
            <a:off x="838200" y="1813580"/>
            <a:ext cx="10515600" cy="4363383"/>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To develop a robust, scalable, and explainable multimodal content moderation framework by integrating Hugging Face pre-trained BERT and </a:t>
            </a:r>
            <a:r>
              <a:rPr lang="en-GB" sz="2400" dirty="0" err="1">
                <a:latin typeface="Times New Roman" panose="02020603050405020304" pitchFamily="18" charset="0"/>
                <a:cs typeface="Times New Roman" panose="02020603050405020304" pitchFamily="18" charset="0"/>
              </a:rPr>
              <a:t>ViT</a:t>
            </a:r>
            <a:r>
              <a:rPr lang="en-GB" sz="2400" dirty="0">
                <a:latin typeface="Times New Roman" panose="02020603050405020304" pitchFamily="18" charset="0"/>
                <a:cs typeface="Times New Roman" panose="02020603050405020304" pitchFamily="18" charset="0"/>
              </a:rPr>
              <a:t> models, achieving higher accuracy than unimodal baselines.</a:t>
            </a:r>
            <a:endParaRPr lang="en-US" sz="2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CD86AF03-5081-B761-2F9D-A64FA916CD2A}"/>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A0A5649B-A466-1881-3120-09D95D599B1B}"/>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90F9FC38-F421-A5FA-9CE2-2331629E117E}"/>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49892145-0A35-4DDC-3610-A7D3F65E135E}"/>
              </a:ext>
            </a:extLst>
          </p:cNvPr>
          <p:cNvSpPr txBox="1"/>
          <p:nvPr/>
        </p:nvSpPr>
        <p:spPr>
          <a:xfrm>
            <a:off x="2753213" y="1058776"/>
            <a:ext cx="5086043" cy="523220"/>
          </a:xfrm>
          <a:prstGeom prst="rect">
            <a:avLst/>
          </a:prstGeom>
          <a:noFill/>
        </p:spPr>
        <p:txBody>
          <a:bodyPr wrap="square" lIns="91440" tIns="45720" rIns="91440" bIns="4572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PROJECT  MOTIVATION</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pic>
        <p:nvPicPr>
          <p:cNvPr id="27" name="Picture 26">
            <a:extLst>
              <a:ext uri="{FF2B5EF4-FFF2-40B4-BE49-F238E27FC236}">
                <a16:creationId xmlns:a16="http://schemas.microsoft.com/office/drawing/2014/main" id="{A3147FE3-93C2-F593-4C68-830999B0A5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162" y="3117377"/>
            <a:ext cx="5929950" cy="1817941"/>
          </a:xfrm>
          <a:prstGeom prst="rect">
            <a:avLst/>
          </a:prstGeom>
        </p:spPr>
      </p:pic>
      <p:pic>
        <p:nvPicPr>
          <p:cNvPr id="29" name="Picture 28">
            <a:extLst>
              <a:ext uri="{FF2B5EF4-FFF2-40B4-BE49-F238E27FC236}">
                <a16:creationId xmlns:a16="http://schemas.microsoft.com/office/drawing/2014/main" id="{E874A0E2-4ECF-8AAC-EE5E-C3D17A82A3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756" y="3939709"/>
            <a:ext cx="3778315" cy="1560147"/>
          </a:xfrm>
          <a:prstGeom prst="rect">
            <a:avLst/>
          </a:prstGeom>
        </p:spPr>
      </p:pic>
      <p:pic>
        <p:nvPicPr>
          <p:cNvPr id="31" name="Picture 30">
            <a:extLst>
              <a:ext uri="{FF2B5EF4-FFF2-40B4-BE49-F238E27FC236}">
                <a16:creationId xmlns:a16="http://schemas.microsoft.com/office/drawing/2014/main" id="{B7B22FF7-BE74-77A4-829A-DB048DBF991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04835" y="3470133"/>
            <a:ext cx="4257675" cy="1277632"/>
          </a:xfrm>
          <a:prstGeom prst="rect">
            <a:avLst/>
          </a:prstGeom>
        </p:spPr>
      </p:pic>
      <p:pic>
        <p:nvPicPr>
          <p:cNvPr id="33" name="Picture 32">
            <a:extLst>
              <a:ext uri="{FF2B5EF4-FFF2-40B4-BE49-F238E27FC236}">
                <a16:creationId xmlns:a16="http://schemas.microsoft.com/office/drawing/2014/main" id="{1369573C-C4BA-EE78-3369-BF085DE6F6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28688" y="4332670"/>
            <a:ext cx="2039873" cy="1836708"/>
          </a:xfrm>
          <a:prstGeom prst="rect">
            <a:avLst/>
          </a:prstGeom>
        </p:spPr>
      </p:pic>
      <p:pic>
        <p:nvPicPr>
          <p:cNvPr id="35" name="Picture 34">
            <a:extLst>
              <a:ext uri="{FF2B5EF4-FFF2-40B4-BE49-F238E27FC236}">
                <a16:creationId xmlns:a16="http://schemas.microsoft.com/office/drawing/2014/main" id="{9C14BEE8-621D-3AE5-A893-77105FD89B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59290" y="4441452"/>
            <a:ext cx="5929950" cy="1580839"/>
          </a:xfrm>
          <a:prstGeom prst="rect">
            <a:avLst/>
          </a:prstGeom>
        </p:spPr>
      </p:pic>
      <p:pic>
        <p:nvPicPr>
          <p:cNvPr id="37" name="Picture 36">
            <a:extLst>
              <a:ext uri="{FF2B5EF4-FFF2-40B4-BE49-F238E27FC236}">
                <a16:creationId xmlns:a16="http://schemas.microsoft.com/office/drawing/2014/main" id="{7ECA51B1-7102-59BC-F034-CA15EE41DFF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839256" y="3727508"/>
            <a:ext cx="3824153" cy="1045226"/>
          </a:xfrm>
          <a:prstGeom prst="rect">
            <a:avLst/>
          </a:prstGeom>
        </p:spPr>
      </p:pic>
      <p:sp>
        <p:nvSpPr>
          <p:cNvPr id="2" name="TextBox 8">
            <a:extLst>
              <a:ext uri="{FF2B5EF4-FFF2-40B4-BE49-F238E27FC236}">
                <a16:creationId xmlns:a16="http://schemas.microsoft.com/office/drawing/2014/main" id="{2627699E-52BF-3DF6-CE3E-8A2CAFD5CDDF}"/>
              </a:ext>
            </a:extLst>
          </p:cNvPr>
          <p:cNvSpPr txBox="1"/>
          <p:nvPr/>
        </p:nvSpPr>
        <p:spPr>
          <a:xfrm>
            <a:off x="5720434" y="6294950"/>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3503652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210A2-13E9-FE03-2169-54626B1E8A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0B947-F175-78AB-FF70-0F03DD5B529C}"/>
              </a:ext>
            </a:extLst>
          </p:cNvPr>
          <p:cNvSpPr>
            <a:spLocks noGrp="1"/>
          </p:cNvSpPr>
          <p:nvPr>
            <p:ph idx="1"/>
          </p:nvPr>
        </p:nvSpPr>
        <p:spPr/>
        <p:txBody>
          <a:bodyPr>
            <a:normAutofit/>
          </a:bodyPr>
          <a:lstStyle/>
          <a:p>
            <a:pPr marL="0" indent="0">
              <a:buNone/>
            </a:pPr>
            <a:r>
              <a:rPr lang="en-GB" sz="2400" b="1" dirty="0">
                <a:latin typeface="Times New Roman" panose="02020603050405020304" pitchFamily="18" charset="0"/>
                <a:cs typeface="Times New Roman" panose="02020603050405020304" pitchFamily="18" charset="0"/>
              </a:rPr>
              <a:t>Problem in Focus:</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The exponential rise of user-generated content on social media brings offensive text, toxic memes, and unsafe images.</a:t>
            </a:r>
          </a:p>
          <a:p>
            <a:r>
              <a:rPr lang="en-GB" sz="2400" dirty="0">
                <a:latin typeface="Times New Roman" panose="02020603050405020304" pitchFamily="18" charset="0"/>
                <a:cs typeface="Times New Roman" panose="02020603050405020304" pitchFamily="18" charset="0"/>
              </a:rPr>
              <a:t>Manual moderation is time-consuming, biased, and non-scalable.</a:t>
            </a:r>
          </a:p>
          <a:p>
            <a:pPr marL="0" indent="0">
              <a:buNone/>
            </a:pPr>
            <a:r>
              <a:rPr lang="en-GB" sz="2400" b="1" dirty="0">
                <a:latin typeface="Times New Roman" panose="02020603050405020304" pitchFamily="18" charset="0"/>
                <a:cs typeface="Times New Roman" panose="02020603050405020304" pitchFamily="18" charset="0"/>
              </a:rPr>
              <a:t>Need for Automation:</a:t>
            </a:r>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Platforms require real-time, scalable, and objective moderation systems.</a:t>
            </a:r>
          </a:p>
          <a:p>
            <a:r>
              <a:rPr lang="en-GB" sz="2400" dirty="0">
                <a:latin typeface="Times New Roman" panose="02020603050405020304" pitchFamily="18" charset="0"/>
                <a:cs typeface="Times New Roman" panose="02020603050405020304" pitchFamily="18" charset="0"/>
              </a:rPr>
              <a:t>Existing unimodal approaches (text-only or image-only) often fail in detecting multimodal content such as memes.</a:t>
            </a:r>
          </a:p>
        </p:txBody>
      </p:sp>
      <p:sp>
        <p:nvSpPr>
          <p:cNvPr id="4" name="Text 2">
            <a:extLst>
              <a:ext uri="{FF2B5EF4-FFF2-40B4-BE49-F238E27FC236}">
                <a16:creationId xmlns:a16="http://schemas.microsoft.com/office/drawing/2014/main" id="{79D2D382-9643-5C7A-06F2-F10C6CDDE7A3}"/>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73585D88-13C7-F0E7-BB75-9A9BA6BF9206}"/>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D6568997-4F3D-ECE5-E17E-01A0DD8B3E60}"/>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DE6DBC44-09B8-3F6D-E1D4-EA6EF1794AC9}"/>
              </a:ext>
            </a:extLst>
          </p:cNvPr>
          <p:cNvSpPr txBox="1"/>
          <p:nvPr/>
        </p:nvSpPr>
        <p:spPr>
          <a:xfrm>
            <a:off x="2785150" y="1058776"/>
            <a:ext cx="5086043" cy="523220"/>
          </a:xfrm>
          <a:prstGeom prst="rect">
            <a:avLst/>
          </a:prstGeom>
          <a:noFill/>
        </p:spPr>
        <p:txBody>
          <a:bodyPr wrap="square" lIns="91440" tIns="45720" rIns="91440" bIns="4572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PROJECT  MOTIVATION</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2" name="TextBox 8">
            <a:extLst>
              <a:ext uri="{FF2B5EF4-FFF2-40B4-BE49-F238E27FC236}">
                <a16:creationId xmlns:a16="http://schemas.microsoft.com/office/drawing/2014/main" id="{BDA73802-5BD7-6FB2-CF55-EA0CFD3BB76D}"/>
              </a:ext>
            </a:extLst>
          </p:cNvPr>
          <p:cNvSpPr txBox="1"/>
          <p:nvPr/>
        </p:nvSpPr>
        <p:spPr>
          <a:xfrm>
            <a:off x="5427728" y="6315853"/>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1934648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68A7-9631-5792-B1FB-2C36098C020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C7BB1-F080-9BA8-D1A8-AAE0B20D3637}"/>
              </a:ext>
            </a:extLst>
          </p:cNvPr>
          <p:cNvSpPr>
            <a:spLocks noGrp="1"/>
          </p:cNvSpPr>
          <p:nvPr>
            <p:ph idx="1"/>
          </p:nvPr>
        </p:nvSpPr>
        <p:spPr>
          <a:xfrm>
            <a:off x="838200" y="1903322"/>
            <a:ext cx="10515600" cy="4351338"/>
          </a:xfrm>
        </p:spPr>
        <p:txBody>
          <a:bodyPr>
            <a:normAutofit/>
          </a:bodyPr>
          <a:lstStyle/>
          <a:p>
            <a:r>
              <a:rPr lang="en-GB" sz="2400" dirty="0">
                <a:latin typeface="Times New Roman" panose="02020603050405020304" pitchFamily="18" charset="0"/>
                <a:cs typeface="Times New Roman" panose="02020603050405020304" pitchFamily="18" charset="0"/>
              </a:rPr>
              <a:t>The explosive growth of user-generated content on social media has led to the spread of offensive language, toxic memes, and unsafe imagery.</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Manual moderation is slow, inconsistent, and biased, while unimodal AI approaches (text-only or image-only) often fail to detect multimodal content like memes that combine text with images.</a:t>
            </a:r>
          </a:p>
          <a:p>
            <a:r>
              <a:rPr lang="en-GB" sz="2400" dirty="0">
                <a:latin typeface="Times New Roman" panose="02020603050405020304" pitchFamily="18" charset="0"/>
                <a:cs typeface="Times New Roman" panose="02020603050405020304" pitchFamily="18" charset="0"/>
              </a:rPr>
              <a:t>Hence, there is a need for a multimodal, scalable, and explainable AI framework that integrates both textual and visual analysis for accurate and fair content moderation.</a:t>
            </a:r>
            <a:endParaRPr lang="en-US" sz="24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CD86AF03-5081-B761-2F9D-A64FA916CD2A}"/>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A0A5649B-A466-1881-3120-09D95D599B1B}"/>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90F9FC38-F421-A5FA-9CE2-2331629E117E}"/>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49892145-0A35-4DDC-3610-A7D3F65E135E}"/>
              </a:ext>
            </a:extLst>
          </p:cNvPr>
          <p:cNvSpPr txBox="1"/>
          <p:nvPr/>
        </p:nvSpPr>
        <p:spPr>
          <a:xfrm>
            <a:off x="2832775" y="1117206"/>
            <a:ext cx="5086043" cy="523220"/>
          </a:xfrm>
          <a:prstGeom prst="rect">
            <a:avLst/>
          </a:prstGeom>
          <a:noFill/>
        </p:spPr>
        <p:txBody>
          <a:bodyPr wrap="square" lIns="91440" tIns="45720" rIns="91440" bIns="4572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PROBLEM </a:t>
            </a:r>
            <a:r>
              <a:rPr lang="en-IN" sz="2800" b="1" u="sng" dirty="0">
                <a:solidFill>
                  <a:prstClr val="black"/>
                </a:solidFill>
                <a:latin typeface="Times New Roman"/>
                <a:ea typeface="Calibri"/>
                <a:cs typeface="Times New Roman"/>
              </a:rPr>
              <a:t>STATEMENT</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2" name="TextBox 8">
            <a:extLst>
              <a:ext uri="{FF2B5EF4-FFF2-40B4-BE49-F238E27FC236}">
                <a16:creationId xmlns:a16="http://schemas.microsoft.com/office/drawing/2014/main" id="{66A5A0A9-16A5-C44F-6AFE-1B115B5DE933}"/>
              </a:ext>
            </a:extLst>
          </p:cNvPr>
          <p:cNvSpPr txBox="1"/>
          <p:nvPr/>
        </p:nvSpPr>
        <p:spPr>
          <a:xfrm>
            <a:off x="5614716" y="6346612"/>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3476824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4DC41-1F3B-B20A-DE7A-740293D52EA3}"/>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34DF1B7C-FF10-0529-1266-C7C757DB77D2}"/>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FBD32A43-14E9-5616-3008-13EAEADAD19A}"/>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C5944658-BD27-6697-23FD-E1C525E842D3}"/>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FAC62D27-9F2C-1BD4-2E09-9CD3C90E8A97}"/>
              </a:ext>
            </a:extLst>
          </p:cNvPr>
          <p:cNvSpPr txBox="1"/>
          <p:nvPr/>
        </p:nvSpPr>
        <p:spPr>
          <a:xfrm>
            <a:off x="3479246" y="1183950"/>
            <a:ext cx="5086043" cy="523220"/>
          </a:xfrm>
          <a:prstGeom prst="rect">
            <a:avLst/>
          </a:prstGeom>
          <a:noFill/>
        </p:spPr>
        <p:txBody>
          <a:bodyPr wrap="square" lIns="91440" tIns="45720" rIns="91440" bIns="4572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u="sng" dirty="0">
                <a:solidFill>
                  <a:prstClr val="black"/>
                </a:solidFill>
                <a:latin typeface="Times New Roman"/>
                <a:ea typeface="Calibri"/>
                <a:cs typeface="Times New Roman"/>
              </a:rPr>
              <a:t>O</a:t>
            </a:r>
            <a:r>
              <a:rPr lang="en-IN" sz="2800" b="1" u="sng" dirty="0">
                <a:solidFill>
                  <a:prstClr val="black"/>
                </a:solidFill>
                <a:latin typeface="Times New Roman"/>
                <a:ea typeface="Calibri"/>
                <a:cs typeface="Times New Roman"/>
              </a:rPr>
              <a:t>BJECTIVES</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7" name="Rectangle 2">
            <a:extLst>
              <a:ext uri="{FF2B5EF4-FFF2-40B4-BE49-F238E27FC236}">
                <a16:creationId xmlns:a16="http://schemas.microsoft.com/office/drawing/2014/main" id="{43534E78-5EF1-8F5F-07A6-4463C3265153}"/>
              </a:ext>
            </a:extLst>
          </p:cNvPr>
          <p:cNvSpPr>
            <a:spLocks noGrp="1" noChangeArrowheads="1"/>
          </p:cNvSpPr>
          <p:nvPr>
            <p:ph idx="1"/>
          </p:nvPr>
        </p:nvSpPr>
        <p:spPr bwMode="auto">
          <a:xfrm>
            <a:off x="543734" y="1643174"/>
            <a:ext cx="1081006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multimodal content moderation framework:</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integrating Hugging Face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BERT (text) and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(image)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detection accuracy: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applying early fusion of embeddings for joint reasoning over text and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Ensure scalability and reproducibility: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Hugging Face’s pre-trained and fine-tuned models.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 classification errors: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(false positives &amp; false negatives) to refine the system for real-world deployment.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Address fairness and bias issues: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evaluating model behavior across diverse datasets and cultural contexts.</a:t>
            </a:r>
          </a:p>
        </p:txBody>
      </p:sp>
      <p:sp>
        <p:nvSpPr>
          <p:cNvPr id="2" name="TextBox 8">
            <a:extLst>
              <a:ext uri="{FF2B5EF4-FFF2-40B4-BE49-F238E27FC236}">
                <a16:creationId xmlns:a16="http://schemas.microsoft.com/office/drawing/2014/main" id="{E8CC89D8-84F1-BB07-89DD-9702FA607DB0}"/>
              </a:ext>
            </a:extLst>
          </p:cNvPr>
          <p:cNvSpPr txBox="1"/>
          <p:nvPr/>
        </p:nvSpPr>
        <p:spPr>
          <a:xfrm>
            <a:off x="5614716" y="6330315"/>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39490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6">
            <a:extLst>
              <a:ext uri="{FF2B5EF4-FFF2-40B4-BE49-F238E27FC236}">
                <a16:creationId xmlns:a16="http://schemas.microsoft.com/office/drawing/2014/main" id="{541CD80B-072C-1F2D-09FB-E6F46B59B3A3}"/>
              </a:ext>
            </a:extLst>
          </p:cNvPr>
          <p:cNvGraphicFramePr>
            <a:graphicFrameLocks noGrp="1"/>
          </p:cNvGraphicFramePr>
          <p:nvPr>
            <p:ph idx="1"/>
            <p:extLst>
              <p:ext uri="{D42A27DB-BD31-4B8C-83A1-F6EECF244321}">
                <p14:modId xmlns:p14="http://schemas.microsoft.com/office/powerpoint/2010/main" val="1903796098"/>
              </p:ext>
            </p:extLst>
          </p:nvPr>
        </p:nvGraphicFramePr>
        <p:xfrm>
          <a:off x="242399" y="1760604"/>
          <a:ext cx="11700562" cy="4484645"/>
        </p:xfrm>
        <a:graphic>
          <a:graphicData uri="http://schemas.openxmlformats.org/drawingml/2006/table">
            <a:tbl>
              <a:tblPr firstRow="1" bandRow="1">
                <a:tableStyleId>{5940675A-B579-460E-94D1-54222C63F5DA}</a:tableStyleId>
              </a:tblPr>
              <a:tblGrid>
                <a:gridCol w="3602502">
                  <a:extLst>
                    <a:ext uri="{9D8B030D-6E8A-4147-A177-3AD203B41FA5}">
                      <a16:colId xmlns:a16="http://schemas.microsoft.com/office/drawing/2014/main" val="1914835388"/>
                    </a:ext>
                  </a:extLst>
                </a:gridCol>
                <a:gridCol w="2550928">
                  <a:extLst>
                    <a:ext uri="{9D8B030D-6E8A-4147-A177-3AD203B41FA5}">
                      <a16:colId xmlns:a16="http://schemas.microsoft.com/office/drawing/2014/main" val="1062205598"/>
                    </a:ext>
                  </a:extLst>
                </a:gridCol>
                <a:gridCol w="2793535">
                  <a:extLst>
                    <a:ext uri="{9D8B030D-6E8A-4147-A177-3AD203B41FA5}">
                      <a16:colId xmlns:a16="http://schemas.microsoft.com/office/drawing/2014/main" val="2953249244"/>
                    </a:ext>
                  </a:extLst>
                </a:gridCol>
                <a:gridCol w="2753597">
                  <a:extLst>
                    <a:ext uri="{9D8B030D-6E8A-4147-A177-3AD203B41FA5}">
                      <a16:colId xmlns:a16="http://schemas.microsoft.com/office/drawing/2014/main" val="3322931904"/>
                    </a:ext>
                  </a:extLst>
                </a:gridCol>
              </a:tblGrid>
              <a:tr h="358901">
                <a:tc>
                  <a:txBody>
                    <a:bodyPr/>
                    <a:lstStyle/>
                    <a:p>
                      <a:r>
                        <a:rPr lang="en-US" dirty="0"/>
                        <a:t>Paper Reference</a:t>
                      </a:r>
                    </a:p>
                  </a:txBody>
                  <a:tcPr/>
                </a:tc>
                <a:tc>
                  <a:txBody>
                    <a:bodyPr/>
                    <a:lstStyle/>
                    <a:p>
                      <a:r>
                        <a:rPr lang="en-US" dirty="0"/>
                        <a:t>Methods/Technique</a:t>
                      </a:r>
                    </a:p>
                  </a:txBody>
                  <a:tcPr/>
                </a:tc>
                <a:tc>
                  <a:txBody>
                    <a:bodyPr/>
                    <a:lstStyle/>
                    <a:p>
                      <a:r>
                        <a:rPr lang="en-US" dirty="0"/>
                        <a:t>Research Contributions</a:t>
                      </a:r>
                    </a:p>
                  </a:txBody>
                  <a:tcPr/>
                </a:tc>
                <a:tc>
                  <a:txBody>
                    <a:bodyPr/>
                    <a:lstStyle/>
                    <a:p>
                      <a:r>
                        <a:rPr lang="en-US" dirty="0"/>
                        <a:t>Research Gaps</a:t>
                      </a:r>
                    </a:p>
                  </a:txBody>
                  <a:tcPr/>
                </a:tc>
                <a:extLst>
                  <a:ext uri="{0D108BD9-81ED-4DB2-BD59-A6C34878D82A}">
                    <a16:rowId xmlns:a16="http://schemas.microsoft.com/office/drawing/2014/main" val="1159141027"/>
                  </a:ext>
                </a:extLst>
              </a:tr>
              <a:tr h="1192805">
                <a:tc>
                  <a:txBody>
                    <a:bodyPr/>
                    <a:lstStyle/>
                    <a:p>
                      <a:r>
                        <a:rPr lang="en-US" dirty="0"/>
                        <a:t>[1</a:t>
                      </a:r>
                      <a:r>
                        <a:rPr lang="en-US" dirty="0">
                          <a:latin typeface="Times New Roman" panose="02020603050405020304" pitchFamily="18" charset="0"/>
                          <a:cs typeface="Times New Roman" panose="02020603050405020304" pitchFamily="18" charset="0"/>
                        </a:rPr>
                        <a:t>] Hugging Face: Revolutionizing AI and NLP</a:t>
                      </a:r>
                    </a:p>
                  </a:txBody>
                  <a:tcPr/>
                </a:tc>
                <a:tc>
                  <a:txBody>
                    <a:bodyPr/>
                    <a:lstStyle/>
                    <a:p>
                      <a:r>
                        <a:rPr lang="en-GB" b="0" dirty="0">
                          <a:latin typeface="Times New Roman" panose="02020603050405020304" pitchFamily="18" charset="0"/>
                          <a:cs typeface="Times New Roman" panose="02020603050405020304" pitchFamily="18" charset="0"/>
                        </a:rPr>
                        <a:t>Reviewed Hugging Face tools, libraries, and ecosystem for AI/NLP applications.</a:t>
                      </a:r>
                      <a:endParaRPr lang="en-US" b="0" dirty="0">
                        <a:latin typeface="Times New Roman" panose="02020603050405020304" pitchFamily="18" charset="0"/>
                        <a:cs typeface="Times New Roman" panose="02020603050405020304" pitchFamily="18" charset="0"/>
                      </a:endParaRPr>
                    </a:p>
                  </a:txBody>
                  <a:tcPr/>
                </a:tc>
                <a:tc>
                  <a:txBody>
                    <a:bodyPr/>
                    <a:lstStyle/>
                    <a:p>
                      <a:r>
                        <a:rPr lang="en-GB" b="0" dirty="0">
                          <a:latin typeface="Times New Roman" panose="02020603050405020304" pitchFamily="18" charset="0"/>
                          <a:cs typeface="Times New Roman" panose="02020603050405020304" pitchFamily="18" charset="0"/>
                        </a:rPr>
                        <a:t>Showed how Hugging Face democratizes AI and accelerates model deployment.</a:t>
                      </a:r>
                      <a:endParaRPr lang="en-US" b="0" dirty="0">
                        <a:latin typeface="Times New Roman" panose="02020603050405020304" pitchFamily="18" charset="0"/>
                        <a:cs typeface="Times New Roman" panose="02020603050405020304" pitchFamily="18" charset="0"/>
                      </a:endParaRPr>
                    </a:p>
                  </a:txBody>
                  <a:tcPr/>
                </a:tc>
                <a:tc>
                  <a:txBody>
                    <a:bodyPr/>
                    <a:lstStyle/>
                    <a:p>
                      <a:r>
                        <a:rPr lang="en-GB" b="0" dirty="0">
                          <a:latin typeface="Times New Roman" panose="02020603050405020304" pitchFamily="18" charset="0"/>
                          <a:cs typeface="Times New Roman" panose="02020603050405020304" pitchFamily="18" charset="0"/>
                        </a:rPr>
                        <a:t>Lacks experiments, performance benchmarks, and analysis of limitations or risks.</a:t>
                      </a:r>
                      <a:endParaRPr lang="en-US"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73066883"/>
                  </a:ext>
                </a:extLst>
              </a:tr>
              <a:tr h="1435604">
                <a:tc>
                  <a:txBody>
                    <a:bodyPr/>
                    <a:lstStyle/>
                    <a:p>
                      <a:r>
                        <a:rPr lang="en-US" dirty="0"/>
                        <a:t>[2</a:t>
                      </a:r>
                      <a:r>
                        <a:rPr lang="en-GB" b="0" i="0" dirty="0">
                          <a:latin typeface="Times New Roman" panose="02020603050405020304" pitchFamily="18" charset="0"/>
                          <a:cs typeface="Times New Roman" panose="02020603050405020304" pitchFamily="18" charset="0"/>
                        </a:rPr>
                        <a:t>Automatic Report Generation for Histopathology Images Using Pre-Trained Vision Transformers and BERT </a:t>
                      </a:r>
                      <a:endParaRPr lang="en-US" dirty="0"/>
                    </a:p>
                  </a:txBody>
                  <a:tcPr/>
                </a:tc>
                <a:tc>
                  <a:txBody>
                    <a:bodyPr/>
                    <a:lstStyle/>
                    <a:p>
                      <a:r>
                        <a:rPr lang="en-GB" b="0" i="0" dirty="0">
                          <a:latin typeface="Times New Roman" panose="02020603050405020304" pitchFamily="18" charset="0"/>
                          <a:cs typeface="Times New Roman" panose="02020603050405020304" pitchFamily="18" charset="0"/>
                        </a:rPr>
                        <a:t>They used HIPT for image encoding and BERT for text generation.</a:t>
                      </a:r>
                      <a:endParaRPr lang="en-US" b="0" i="0" dirty="0">
                        <a:latin typeface="Times New Roman" panose="02020603050405020304" pitchFamily="18" charset="0"/>
                        <a:cs typeface="Times New Roman" panose="02020603050405020304" pitchFamily="18" charset="0"/>
                      </a:endParaRPr>
                    </a:p>
                  </a:txBody>
                  <a:tcPr/>
                </a:tc>
                <a:tc>
                  <a:txBody>
                    <a:bodyPr/>
                    <a:lstStyle/>
                    <a:p>
                      <a:r>
                        <a:rPr lang="en-GB" b="0" i="0" dirty="0">
                          <a:latin typeface="Times New Roman" panose="02020603050405020304" pitchFamily="18" charset="0"/>
                          <a:cs typeface="Times New Roman" panose="02020603050405020304" pitchFamily="18" charset="0"/>
                        </a:rPr>
                        <a:t>They proved HIPT + BERT can generate reports effectively.</a:t>
                      </a:r>
                      <a:endParaRPr lang="en-US" b="0" i="0" dirty="0">
                        <a:latin typeface="Times New Roman" panose="02020603050405020304" pitchFamily="18" charset="0"/>
                        <a:cs typeface="Times New Roman" panose="02020603050405020304" pitchFamily="18" charset="0"/>
                      </a:endParaRPr>
                    </a:p>
                  </a:txBody>
                  <a:tcPr/>
                </a:tc>
                <a:tc>
                  <a:txBody>
                    <a:bodyPr/>
                    <a:lstStyle/>
                    <a:p>
                      <a:r>
                        <a:rPr lang="en-GB" b="0" i="0" dirty="0">
                          <a:latin typeface="Times New Roman" panose="02020603050405020304" pitchFamily="18" charset="0"/>
                          <a:cs typeface="Times New Roman" panose="02020603050405020304" pitchFamily="18" charset="0"/>
                        </a:rPr>
                        <a:t>Accurate report generation needs stronger vision–language alignment, since simple fusion can miss critical image–text cues.</a:t>
                      </a:r>
                      <a:endParaRPr lang="en-US"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55185244"/>
                  </a:ext>
                </a:extLst>
              </a:tr>
              <a:tr h="14356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Optimizing Multimodal Transformers for Medical Image Captioning: Enhancing Automated Descriptions via AI Systems</a:t>
                      </a:r>
                      <a:endParaRPr lang="en-US" dirty="0">
                        <a:latin typeface="Times New Roman" panose="02020603050405020304" pitchFamily="18" charset="0"/>
                        <a:cs typeface="Times New Roman" panose="02020603050405020304" pitchFamily="18" charset="0"/>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anose="02020603050405020304" pitchFamily="18" charset="0"/>
                          <a:cs typeface="Times New Roman" panose="02020603050405020304" pitchFamily="18" charset="0"/>
                        </a:rPr>
                        <a:t>Used a multimodal transformer with attention to generate medical image captions.</a:t>
                      </a:r>
                      <a:endParaRPr lang="en-US" dirty="0">
                        <a:latin typeface="Times New Roman" panose="02020603050405020304" pitchFamily="18" charset="0"/>
                        <a:cs typeface="Times New Roman" panose="02020603050405020304" pitchFamily="18" charset="0"/>
                      </a:endParaRPr>
                    </a:p>
                    <a:p>
                      <a:endParaRPr lang="en-US"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anose="02020603050405020304" pitchFamily="18" charset="0"/>
                          <a:cs typeface="Times New Roman" panose="02020603050405020304" pitchFamily="18" charset="0"/>
                        </a:rPr>
                        <a:t>Improved caption accuracy by integrating visual and textual features.</a:t>
                      </a:r>
                      <a:endParaRPr lang="en-US" b="0" i="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Times New Roman" panose="02020603050405020304" pitchFamily="18" charset="0"/>
                          <a:cs typeface="Times New Roman" panose="02020603050405020304" pitchFamily="18" charset="0"/>
                        </a:rPr>
                        <a:t>Limited generalization across modalities and real-world clinical settings.</a:t>
                      </a:r>
                      <a:endParaRPr lang="en-US" dirty="0">
                        <a:latin typeface="Times New Roman" panose="02020603050405020304" pitchFamily="18" charset="0"/>
                        <a:cs typeface="Times New Roman" panose="02020603050405020304" pitchFamily="18" charset="0"/>
                      </a:endParaRPr>
                    </a:p>
                    <a:p>
                      <a:endParaRPr lang="en-US" b="0" i="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1667928"/>
                  </a:ext>
                </a:extLst>
              </a:tr>
            </a:tbl>
          </a:graphicData>
        </a:graphic>
      </p:graphicFrame>
      <p:sp>
        <p:nvSpPr>
          <p:cNvPr id="4" name="Text 2">
            <a:extLst>
              <a:ext uri="{FF2B5EF4-FFF2-40B4-BE49-F238E27FC236}">
                <a16:creationId xmlns:a16="http://schemas.microsoft.com/office/drawing/2014/main" id="{D447054D-F9FE-F14D-48F9-2CA766EFB5E6}"/>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CE45B6C1-379A-BE6E-641A-0F3C34989C6A}"/>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D5809322-49D3-6A7D-C5DC-DC7B623D00AD}"/>
              </a:ext>
            </a:extLst>
          </p:cNvPr>
          <p:cNvPicPr>
            <a:picLocks noChangeAspect="1"/>
          </p:cNvPicPr>
          <p:nvPr/>
        </p:nvPicPr>
        <p:blipFill>
          <a:blip r:embed="rId3"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5F3F38C3-AEC2-383D-BFAB-B15A393E1FB1}"/>
              </a:ext>
            </a:extLst>
          </p:cNvPr>
          <p:cNvSpPr txBox="1"/>
          <p:nvPr/>
        </p:nvSpPr>
        <p:spPr>
          <a:xfrm>
            <a:off x="3836953" y="1130533"/>
            <a:ext cx="7462939"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Times New Roman"/>
                <a:cs typeface="Times New Roman"/>
              </a:rPr>
              <a:t>LITERATURE SURVEY</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3" name="TextBox 8">
            <a:extLst>
              <a:ext uri="{FF2B5EF4-FFF2-40B4-BE49-F238E27FC236}">
                <a16:creationId xmlns:a16="http://schemas.microsoft.com/office/drawing/2014/main" id="{CB0C31CD-5A7E-7C2B-B47A-40CB561B578E}"/>
              </a:ext>
            </a:extLst>
          </p:cNvPr>
          <p:cNvSpPr txBox="1"/>
          <p:nvPr/>
        </p:nvSpPr>
        <p:spPr>
          <a:xfrm>
            <a:off x="5510884" y="6352100"/>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24462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AFB21-E02A-20BC-71EE-0AB6CB7C7523}"/>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B05A9CA6-6483-4133-06F3-7327386D47D8}"/>
              </a:ext>
            </a:extLst>
          </p:cNvPr>
          <p:cNvPicPr>
            <a:picLocks noGrp="1" noChangeAspect="1"/>
          </p:cNvPicPr>
          <p:nvPr>
            <p:ph idx="1"/>
          </p:nvPr>
        </p:nvPicPr>
        <p:blipFill>
          <a:blip r:embed="rId2"/>
          <a:srcRect/>
          <a:stretch/>
        </p:blipFill>
        <p:spPr>
          <a:xfrm>
            <a:off x="6770106" y="1587967"/>
            <a:ext cx="4572049" cy="4422913"/>
          </a:xfrm>
        </p:spPr>
      </p:pic>
      <p:sp>
        <p:nvSpPr>
          <p:cNvPr id="4" name="Text 2">
            <a:extLst>
              <a:ext uri="{FF2B5EF4-FFF2-40B4-BE49-F238E27FC236}">
                <a16:creationId xmlns:a16="http://schemas.microsoft.com/office/drawing/2014/main" id="{5E856033-5877-1C98-38C4-E812F3AD88CB}"/>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92574A73-0B48-4681-3E36-3F527A96B6D5}"/>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EDBAC54C-CE94-6D20-8A10-3C0E9A758BA7}"/>
              </a:ext>
            </a:extLst>
          </p:cNvPr>
          <p:cNvPicPr>
            <a:picLocks noChangeAspect="1"/>
          </p:cNvPicPr>
          <p:nvPr/>
        </p:nvPicPr>
        <p:blipFill>
          <a:blip r:embed="rId3"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A1757E0F-4AAF-F5EF-2754-FDD6A5E950FB}"/>
              </a:ext>
            </a:extLst>
          </p:cNvPr>
          <p:cNvSpPr txBox="1"/>
          <p:nvPr/>
        </p:nvSpPr>
        <p:spPr>
          <a:xfrm>
            <a:off x="4340155" y="1073772"/>
            <a:ext cx="5253191"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METHODOLOGY</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sp>
        <p:nvSpPr>
          <p:cNvPr id="15" name="TextBox 14">
            <a:extLst>
              <a:ext uri="{FF2B5EF4-FFF2-40B4-BE49-F238E27FC236}">
                <a16:creationId xmlns:a16="http://schemas.microsoft.com/office/drawing/2014/main" id="{19966E48-C200-C905-4402-063BEE5B3618}"/>
              </a:ext>
            </a:extLst>
          </p:cNvPr>
          <p:cNvSpPr txBox="1"/>
          <p:nvPr/>
        </p:nvSpPr>
        <p:spPr>
          <a:xfrm>
            <a:off x="363556" y="1730345"/>
            <a:ext cx="5773015"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framework uses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parallel pipelines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BERT (for text analysis) and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image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Outputs from both pipelines are combined through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fusion layer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passed to an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MLP classifier</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system provides </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content moderation output (Safe / Unsafe)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improved accuracy compared to unimodal models.</a:t>
            </a:r>
          </a:p>
        </p:txBody>
      </p:sp>
      <p:sp>
        <p:nvSpPr>
          <p:cNvPr id="2" name="TextBox 8">
            <a:extLst>
              <a:ext uri="{FF2B5EF4-FFF2-40B4-BE49-F238E27FC236}">
                <a16:creationId xmlns:a16="http://schemas.microsoft.com/office/drawing/2014/main" id="{DBA88744-023E-8F99-305B-521279B277C6}"/>
              </a:ext>
            </a:extLst>
          </p:cNvPr>
          <p:cNvSpPr txBox="1"/>
          <p:nvPr/>
        </p:nvSpPr>
        <p:spPr>
          <a:xfrm>
            <a:off x="5358484" y="6385954"/>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700717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57025-F130-E202-F3BA-BCAFACF0D139}"/>
            </a:ext>
          </a:extLst>
        </p:cNvPr>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2375F79-6189-85C4-31E3-9BA1668709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8852" y="2055843"/>
            <a:ext cx="4261378" cy="3196034"/>
          </a:xfrm>
        </p:spPr>
      </p:pic>
      <p:sp>
        <p:nvSpPr>
          <p:cNvPr id="4" name="Text 2">
            <a:extLst>
              <a:ext uri="{FF2B5EF4-FFF2-40B4-BE49-F238E27FC236}">
                <a16:creationId xmlns:a16="http://schemas.microsoft.com/office/drawing/2014/main" id="{D976D22D-D15D-F900-8C20-D8ADBB829D68}"/>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57B3B3EF-632D-2346-D5EE-FE242F0277D1}"/>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93E27F19-C1A5-321C-E7B3-707572ADA0D2}"/>
              </a:ext>
            </a:extLst>
          </p:cNvPr>
          <p:cNvPicPr>
            <a:picLocks noChangeAspect="1"/>
          </p:cNvPicPr>
          <p:nvPr/>
        </p:nvPicPr>
        <p:blipFill>
          <a:blip r:embed="rId3"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F7B71B5A-059E-2FC0-328E-BBDF21409F11}"/>
              </a:ext>
            </a:extLst>
          </p:cNvPr>
          <p:cNvSpPr txBox="1"/>
          <p:nvPr/>
        </p:nvSpPr>
        <p:spPr>
          <a:xfrm>
            <a:off x="3230841" y="1202741"/>
            <a:ext cx="7578159"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800" b="1" i="0" u="sng" strike="noStrike" kern="1200" cap="none" spc="0" normalizeH="0" baseline="0" noProof="0" dirty="0">
                <a:ln>
                  <a:noFill/>
                </a:ln>
                <a:solidFill>
                  <a:prstClr val="black"/>
                </a:solidFill>
                <a:effectLst/>
                <a:uLnTx/>
                <a:uFillTx/>
                <a:latin typeface="Times New Roman"/>
                <a:ea typeface="Calibri"/>
                <a:cs typeface="Times New Roman"/>
              </a:rPr>
              <a:t>RESULTS AND DISCUSSION </a:t>
            </a:r>
            <a:endParaRPr lang="en-US" sz="2800" b="0" i="0" u="none" strike="noStrike" kern="1200" cap="none" spc="0" normalizeH="0" baseline="0" noProof="0" dirty="0">
              <a:ln>
                <a:noFill/>
              </a:ln>
              <a:solidFill>
                <a:prstClr val="black"/>
              </a:solidFill>
              <a:effectLst/>
              <a:uLnTx/>
              <a:uFillTx/>
              <a:latin typeface="Times New Roman"/>
              <a:ea typeface="Calibri"/>
              <a:cs typeface="Times New Roman"/>
            </a:endParaRPr>
          </a:p>
        </p:txBody>
      </p:sp>
      <p:pic>
        <p:nvPicPr>
          <p:cNvPr id="11" name="Picture 10">
            <a:extLst>
              <a:ext uri="{FF2B5EF4-FFF2-40B4-BE49-F238E27FC236}">
                <a16:creationId xmlns:a16="http://schemas.microsoft.com/office/drawing/2014/main" id="{FFE37520-8901-02C8-FFDD-9A41E82A1A6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1771" y="2055843"/>
            <a:ext cx="3990980" cy="3325817"/>
          </a:xfrm>
          <a:prstGeom prst="rect">
            <a:avLst/>
          </a:prstGeom>
        </p:spPr>
      </p:pic>
      <p:sp>
        <p:nvSpPr>
          <p:cNvPr id="12" name="TextBox 11">
            <a:extLst>
              <a:ext uri="{FF2B5EF4-FFF2-40B4-BE49-F238E27FC236}">
                <a16:creationId xmlns:a16="http://schemas.microsoft.com/office/drawing/2014/main" id="{126F0031-43F9-EC5B-3FE1-D14E69A20739}"/>
              </a:ext>
            </a:extLst>
          </p:cNvPr>
          <p:cNvSpPr txBox="1"/>
          <p:nvPr/>
        </p:nvSpPr>
        <p:spPr>
          <a:xfrm>
            <a:off x="2625648" y="5431847"/>
            <a:ext cx="693716" cy="461665"/>
          </a:xfrm>
          <a:prstGeom prst="rect">
            <a:avLst/>
          </a:prstGeom>
          <a:noFill/>
        </p:spPr>
        <p:txBody>
          <a:bodyPr wrap="none" rtlCol="0">
            <a:spAutoFit/>
          </a:bodyPr>
          <a:lstStyle/>
          <a:p>
            <a:r>
              <a:rPr lang="en-GB" sz="2400" dirty="0"/>
              <a:t>Text</a:t>
            </a:r>
            <a:endParaRPr lang="en-IN" sz="2400" dirty="0"/>
          </a:p>
        </p:txBody>
      </p:sp>
      <p:sp>
        <p:nvSpPr>
          <p:cNvPr id="14" name="TextBox 13">
            <a:extLst>
              <a:ext uri="{FF2B5EF4-FFF2-40B4-BE49-F238E27FC236}">
                <a16:creationId xmlns:a16="http://schemas.microsoft.com/office/drawing/2014/main" id="{6349A33F-BE5F-F868-2D73-ACBF06E063DC}"/>
              </a:ext>
            </a:extLst>
          </p:cNvPr>
          <p:cNvSpPr txBox="1"/>
          <p:nvPr/>
        </p:nvSpPr>
        <p:spPr>
          <a:xfrm>
            <a:off x="7929316" y="5431846"/>
            <a:ext cx="949940" cy="461665"/>
          </a:xfrm>
          <a:prstGeom prst="rect">
            <a:avLst/>
          </a:prstGeom>
          <a:noFill/>
        </p:spPr>
        <p:txBody>
          <a:bodyPr wrap="none" rtlCol="0">
            <a:spAutoFit/>
          </a:bodyPr>
          <a:lstStyle/>
          <a:p>
            <a:r>
              <a:rPr lang="en-GB" sz="2400" dirty="0"/>
              <a:t>Image</a:t>
            </a:r>
            <a:endParaRPr lang="en-IN" sz="2400" dirty="0"/>
          </a:p>
        </p:txBody>
      </p:sp>
      <p:sp>
        <p:nvSpPr>
          <p:cNvPr id="2" name="TextBox 8">
            <a:extLst>
              <a:ext uri="{FF2B5EF4-FFF2-40B4-BE49-F238E27FC236}">
                <a16:creationId xmlns:a16="http://schemas.microsoft.com/office/drawing/2014/main" id="{70EB3F97-DA67-36C6-5BB5-D0EEE52C64CD}"/>
              </a:ext>
            </a:extLst>
          </p:cNvPr>
          <p:cNvSpPr txBox="1"/>
          <p:nvPr/>
        </p:nvSpPr>
        <p:spPr>
          <a:xfrm>
            <a:off x="5614716" y="6378727"/>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1392489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EF497-0019-FEFB-B803-EE21E9D935F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FE8989-D622-3336-15AD-B582F83DE370}"/>
              </a:ext>
            </a:extLst>
          </p:cNvPr>
          <p:cNvSpPr>
            <a:spLocks noGrp="1"/>
          </p:cNvSpPr>
          <p:nvPr>
            <p:ph idx="1"/>
          </p:nvPr>
        </p:nvSpPr>
        <p:spPr>
          <a:xfrm>
            <a:off x="838200" y="1987550"/>
            <a:ext cx="10515600" cy="4351338"/>
          </a:xfrm>
        </p:spPr>
        <p:txBody>
          <a:bodyPr>
            <a:normAutofit/>
          </a:bodyPr>
          <a:lstStyle/>
          <a:p>
            <a:r>
              <a:rPr lang="en-GB" sz="2400" b="1" dirty="0"/>
              <a:t>Improved detection performance </a:t>
            </a:r>
            <a:r>
              <a:rPr lang="en-GB" sz="2400" dirty="0"/>
              <a:t>compared to unimodal baselines, with higher accuracy, precision, recall, and F1-score. </a:t>
            </a:r>
          </a:p>
          <a:p>
            <a:r>
              <a:rPr lang="en-GB" sz="2400" b="1" dirty="0"/>
              <a:t>Reduced classification errors</a:t>
            </a:r>
            <a:r>
              <a:rPr lang="en-GB" sz="2400" dirty="0"/>
              <a:t>, especially in sarcasm and meme-based content. </a:t>
            </a:r>
          </a:p>
          <a:p>
            <a:r>
              <a:rPr lang="en-GB" sz="2400" b="1" dirty="0"/>
              <a:t>Technical Contribution</a:t>
            </a:r>
            <a:r>
              <a:rPr lang="en-GB" sz="2400" dirty="0"/>
              <a:t>: Demonstrated the effectiveness of Hugging Face multimodal fusion for safety-critical AI tasks. </a:t>
            </a:r>
          </a:p>
          <a:p>
            <a:r>
              <a:rPr lang="en-GB" sz="2400" b="1" dirty="0"/>
              <a:t>Societal Impact</a:t>
            </a:r>
            <a:r>
              <a:rPr lang="en-GB" sz="2400" dirty="0"/>
              <a:t>: Supports safer and inclusive online communities by minimizing harmful, offensive, and policy-violating content.</a:t>
            </a:r>
          </a:p>
          <a:p>
            <a:r>
              <a:rPr lang="en-GB" sz="2400" b="1" dirty="0"/>
              <a:t>Foundation for Future Research</a:t>
            </a:r>
            <a:r>
              <a:rPr lang="en-GB" sz="2400" dirty="0"/>
              <a:t>: Opens pathways for bias mitigation, multilingual support, and cross-modal attention techniques.</a:t>
            </a:r>
          </a:p>
          <a:p>
            <a:endParaRPr lang="en-US" dirty="0"/>
          </a:p>
        </p:txBody>
      </p:sp>
      <p:sp>
        <p:nvSpPr>
          <p:cNvPr id="4" name="Text 2">
            <a:extLst>
              <a:ext uri="{FF2B5EF4-FFF2-40B4-BE49-F238E27FC236}">
                <a16:creationId xmlns:a16="http://schemas.microsoft.com/office/drawing/2014/main" id="{132340A0-FA61-00AB-4D90-B3507F7B5DAA}"/>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4FC86C42-D662-7E06-0695-15E81C8A097D}"/>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DAFF4C6F-91C2-2B18-6F97-35BBA135BDC1}"/>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672E882E-9B6F-A51B-6BCE-FC09BF6F1EEB}"/>
              </a:ext>
            </a:extLst>
          </p:cNvPr>
          <p:cNvSpPr txBox="1"/>
          <p:nvPr/>
        </p:nvSpPr>
        <p:spPr>
          <a:xfrm>
            <a:off x="3573496" y="1164901"/>
            <a:ext cx="784890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latin typeface="Times New Roman" panose="02020603050405020304" pitchFamily="18" charset="0"/>
                <a:cs typeface="Times New Roman" panose="02020603050405020304" pitchFamily="18" charset="0"/>
              </a:rPr>
              <a:t>PROJECT OUTCOMES</a:t>
            </a:r>
            <a:endParaRPr lang="en-US" sz="2800" b="1" i="0" u="sng" strike="noStrike" kern="1200" cap="none" spc="0" normalizeH="0" baseline="0" noProof="0" dirty="0">
              <a:ln>
                <a:noFill/>
              </a:ln>
              <a:solidFill>
                <a:prstClr val="black"/>
              </a:solidFill>
              <a:effectLst/>
              <a:uLnTx/>
              <a:uFillTx/>
              <a:latin typeface="Times New Roman" panose="02020603050405020304" pitchFamily="18" charset="0"/>
              <a:ea typeface="Calibri"/>
              <a:cs typeface="Times New Roman" panose="02020603050405020304" pitchFamily="18" charset="0"/>
            </a:endParaRPr>
          </a:p>
        </p:txBody>
      </p:sp>
      <p:graphicFrame>
        <p:nvGraphicFramePr>
          <p:cNvPr id="9" name="Table 8">
            <a:extLst>
              <a:ext uri="{FF2B5EF4-FFF2-40B4-BE49-F238E27FC236}">
                <a16:creationId xmlns:a16="http://schemas.microsoft.com/office/drawing/2014/main" id="{FFACFDE5-4642-FAAA-DAB6-F2E8B8ECACAA}"/>
              </a:ext>
            </a:extLst>
          </p:cNvPr>
          <p:cNvGraphicFramePr>
            <a:graphicFrameLocks noGrp="1"/>
          </p:cNvGraphicFramePr>
          <p:nvPr/>
        </p:nvGraphicFramePr>
        <p:xfrm>
          <a:off x="0" y="6254660"/>
          <a:ext cx="12192000" cy="640080"/>
        </p:xfrm>
        <a:graphic>
          <a:graphicData uri="http://schemas.openxmlformats.org/drawingml/2006/table">
            <a:tbl>
              <a:tblPr firstRow="1" bandRow="1">
                <a:tableStyleId>{5C22544A-7EE6-4342-B048-85BDC9FD1C3A}</a:tableStyleId>
              </a:tblPr>
              <a:tblGrid>
                <a:gridCol w="3831336">
                  <a:extLst>
                    <a:ext uri="{9D8B030D-6E8A-4147-A177-3AD203B41FA5}">
                      <a16:colId xmlns:a16="http://schemas.microsoft.com/office/drawing/2014/main" val="2512801715"/>
                    </a:ext>
                  </a:extLst>
                </a:gridCol>
                <a:gridCol w="4846320">
                  <a:extLst>
                    <a:ext uri="{9D8B030D-6E8A-4147-A177-3AD203B41FA5}">
                      <a16:colId xmlns:a16="http://schemas.microsoft.com/office/drawing/2014/main" val="1840610026"/>
                    </a:ext>
                  </a:extLst>
                </a:gridCol>
                <a:gridCol w="3514344">
                  <a:extLst>
                    <a:ext uri="{9D8B030D-6E8A-4147-A177-3AD203B41FA5}">
                      <a16:colId xmlns:a16="http://schemas.microsoft.com/office/drawing/2014/main" val="484045527"/>
                    </a:ext>
                  </a:extLst>
                </a:gridCol>
              </a:tblGrid>
              <a:tr h="5974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Department of CSE</a:t>
                      </a:r>
                      <a:endParaRPr lang="en-US" dirty="0"/>
                    </a:p>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dirty="0"/>
                        <a:t>Multi-model Content Moderation</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dirty="0"/>
                        <a:t>                                           14</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288888440"/>
                  </a:ext>
                </a:extLst>
              </a:tr>
            </a:tbl>
          </a:graphicData>
        </a:graphic>
      </p:graphicFrame>
    </p:spTree>
    <p:extLst>
      <p:ext uri="{BB962C8B-B14F-4D97-AF65-F5344CB8AC3E}">
        <p14:creationId xmlns:p14="http://schemas.microsoft.com/office/powerpoint/2010/main" val="340642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A96AA-DACD-A32F-814D-E05F048961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877D8E-5862-7554-4CFD-EEDED0726C7B}"/>
              </a:ext>
            </a:extLst>
          </p:cNvPr>
          <p:cNvSpPr>
            <a:spLocks noGrp="1"/>
          </p:cNvSpPr>
          <p:nvPr>
            <p:ph idx="1"/>
          </p:nvPr>
        </p:nvSpPr>
        <p:spPr>
          <a:xfrm>
            <a:off x="725557" y="1562978"/>
            <a:ext cx="10515600" cy="4351338"/>
          </a:xfrm>
        </p:spPr>
        <p:txBody>
          <a:bodyPr>
            <a:noAutofit/>
          </a:bodyPr>
          <a:lstStyle/>
          <a:p>
            <a:pPr marL="0" indent="0">
              <a:buNone/>
            </a:pPr>
            <a:r>
              <a:rPr lang="en-IN" sz="2400" dirty="0"/>
              <a:t>[1]A. R. Rao and A. Rao, “</a:t>
            </a:r>
            <a:r>
              <a:rPr lang="en-IN" sz="2400" dirty="0" err="1"/>
              <a:t>ASRtrans</a:t>
            </a:r>
            <a:r>
              <a:rPr lang="en-IN" sz="2400" dirty="0"/>
              <a:t> at SemEval-2022 Task 5: </a:t>
            </a:r>
            <a:r>
              <a:rPr lang="en-IN" sz="2400" dirty="0" err="1"/>
              <a:t>Transformerbased</a:t>
            </a:r>
            <a:r>
              <a:rPr lang="en-IN" sz="2400" dirty="0"/>
              <a:t> Models for Meme Classification,” Proc. 16th Int. Workshop on Semantic Evaluation (SemEval-2022), pp. 597–604, July 2022.</a:t>
            </a:r>
          </a:p>
          <a:p>
            <a:pPr marL="0" indent="0">
              <a:buNone/>
            </a:pPr>
            <a:r>
              <a:rPr lang="en-IN" sz="2400" dirty="0"/>
              <a:t> [2] K. J. </a:t>
            </a:r>
            <a:r>
              <a:rPr lang="en-IN" sz="2400" dirty="0" err="1"/>
              <a:t>Madukwe</a:t>
            </a:r>
            <a:r>
              <a:rPr lang="en-IN" sz="2400" dirty="0"/>
              <a:t>, X. Gao, and B. Xue, “A GA-Based Approach to </a:t>
            </a:r>
            <a:r>
              <a:rPr lang="en-IN" sz="2400" dirty="0" err="1"/>
              <a:t>FineTuning</a:t>
            </a:r>
            <a:r>
              <a:rPr lang="en-IN" sz="2400" dirty="0"/>
              <a:t> BERT for Hate Speech Detection,” 2020 IEEE Symposium Series on Computational Intelligence (SSCI), Canberra, Australia, pp. 2821–2828, Dec. 2020. </a:t>
            </a:r>
          </a:p>
          <a:p>
            <a:pPr marL="0" indent="0">
              <a:buNone/>
            </a:pPr>
            <a:r>
              <a:rPr lang="en-IN" sz="2400" dirty="0"/>
              <a:t>[3] S. Sengupta and D. E. Brown, “Automatic Report Generation for Histopathology Images Using Pre-Trained Vision Transformers and BERT,” 2024 IEEE International Symposium on Biomedical Imaging (ISBI), pp. 1063–1075, 2024. </a:t>
            </a:r>
          </a:p>
          <a:p>
            <a:pPr marL="0" indent="0">
              <a:buNone/>
            </a:pPr>
            <a:r>
              <a:rPr lang="en-IN" sz="2400" dirty="0"/>
              <a:t>[4] S. S. Sabry, T. Adewumi, N. Abid, G. Kovacs, F. </a:t>
            </a:r>
            <a:r>
              <a:rPr lang="en-IN" sz="2400" dirty="0" err="1"/>
              <a:t>Liwicki</a:t>
            </a:r>
            <a:r>
              <a:rPr lang="en-IN" sz="2400" dirty="0"/>
              <a:t>, and M. Li- ´ </a:t>
            </a:r>
            <a:r>
              <a:rPr lang="en-IN" sz="2400" dirty="0" err="1"/>
              <a:t>wicki</a:t>
            </a:r>
            <a:r>
              <a:rPr lang="en-IN" sz="2400" dirty="0"/>
              <a:t>, “HaT5: Hate Language Identification using Text-to-Text Transfer Transformer,” 2022 International Joint Conference on Neural Networks (IJCNN), pp. 1–8, 2022. </a:t>
            </a:r>
            <a:endParaRPr lang="en-US" sz="24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A194F92D-E2E2-0A9F-BACD-ED9DCA0E58E1}"/>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4923761E-182C-122D-7A21-FA668D20A815}"/>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3D629235-CDFD-C55E-59A2-8F537505C6B6}"/>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F00B3E36-562E-409A-5EB9-83119A11D1AF}"/>
              </a:ext>
            </a:extLst>
          </p:cNvPr>
          <p:cNvSpPr txBox="1"/>
          <p:nvPr/>
        </p:nvSpPr>
        <p:spPr>
          <a:xfrm>
            <a:off x="4436685" y="1014493"/>
            <a:ext cx="784890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0" u="sng" strike="noStrike" kern="1200" cap="none" spc="0" normalizeH="0" baseline="0" noProof="0" dirty="0">
                <a:ln>
                  <a:noFill/>
                </a:ln>
                <a:solidFill>
                  <a:prstClr val="black"/>
                </a:solidFill>
                <a:effectLst/>
                <a:uLnTx/>
                <a:uFillTx/>
                <a:latin typeface="Times New Roman" panose="02020603050405020304" pitchFamily="18" charset="0"/>
                <a:ea typeface="Calibri"/>
                <a:cs typeface="Times New Roman" panose="02020603050405020304" pitchFamily="18" charset="0"/>
              </a:rPr>
              <a:t>REFERENCES</a:t>
            </a:r>
          </a:p>
        </p:txBody>
      </p:sp>
      <p:sp>
        <p:nvSpPr>
          <p:cNvPr id="2" name="TextBox 8">
            <a:extLst>
              <a:ext uri="{FF2B5EF4-FFF2-40B4-BE49-F238E27FC236}">
                <a16:creationId xmlns:a16="http://schemas.microsoft.com/office/drawing/2014/main" id="{17AE0E35-E5F9-31FE-3389-574FDA62DD3A}"/>
              </a:ext>
            </a:extLst>
          </p:cNvPr>
          <p:cNvSpPr txBox="1"/>
          <p:nvPr/>
        </p:nvSpPr>
        <p:spPr>
          <a:xfrm>
            <a:off x="5315085" y="6355474"/>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515780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FF46B-14BF-38EC-8DC6-4F7EA527D4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B97DF8-194E-1DC5-B44F-D5FF79B41F7D}"/>
              </a:ext>
            </a:extLst>
          </p:cNvPr>
          <p:cNvSpPr>
            <a:spLocks noGrp="1"/>
          </p:cNvSpPr>
          <p:nvPr>
            <p:ph idx="1"/>
          </p:nvPr>
        </p:nvSpPr>
        <p:spPr>
          <a:xfrm>
            <a:off x="725557" y="1733150"/>
            <a:ext cx="10847318" cy="4351338"/>
          </a:xfrm>
        </p:spPr>
        <p:txBody>
          <a:bodyPr>
            <a:noAutofit/>
          </a:bodyPr>
          <a:lstStyle/>
          <a:p>
            <a:pPr marL="0" indent="0">
              <a:buNone/>
            </a:pPr>
            <a:r>
              <a:rPr lang="en-IN" sz="2400" dirty="0"/>
              <a:t>[5]U. Pol, P. Vadar, and T. T. </a:t>
            </a:r>
            <a:r>
              <a:rPr lang="en-IN" sz="2400" dirty="0" err="1"/>
              <a:t>Moharekar</a:t>
            </a:r>
            <a:r>
              <a:rPr lang="en-IN" sz="2400" dirty="0"/>
              <a:t>, “Hugging Face Revolutionizing AI and NLP,” Int. J. for Research in Applied Science and Engineering Technology, vol. 12, no. 8, pp. 1–7, Aug. 2024. DOI: 10.22214/ijraset.2024.64023.</a:t>
            </a:r>
          </a:p>
          <a:p>
            <a:pPr marL="0" indent="0">
              <a:buNone/>
            </a:pPr>
            <a:r>
              <a:rPr lang="en-IN" sz="2400" dirty="0"/>
              <a:t> [6] T. Wolf et al., “Transformers: State-of-the-Art Natural Language Processing,” </a:t>
            </a:r>
            <a:r>
              <a:rPr lang="en-IN" sz="2400" dirty="0" err="1"/>
              <a:t>arXiv</a:t>
            </a:r>
            <a:r>
              <a:rPr lang="en-IN" sz="2400" dirty="0"/>
              <a:t> preprint arXiv:1910.03771, July 2020. </a:t>
            </a:r>
          </a:p>
          <a:p>
            <a:pPr marL="0" indent="0">
              <a:buNone/>
            </a:pPr>
            <a:r>
              <a:rPr lang="en-IN" sz="2400" dirty="0"/>
              <a:t>[7] M. Arman et al., “Optimizing Multimodal Transformers for Medical Image Captioning: Enhancing Automated Descriptions via AI Systems,” 2025 IEEE 6th Int. Conf. on Image Processing, Applications and Systems (IPAS), pp. 1–7, 2025.</a:t>
            </a:r>
          </a:p>
          <a:p>
            <a:pPr marL="0" indent="0">
              <a:buNone/>
            </a:pPr>
            <a:r>
              <a:rPr lang="en-IN" sz="2400" dirty="0"/>
              <a:t>[8]S. Agal et al., “Elevating Offensive Language Detection: CNN-GRU and BERT for Enhanced Hate Speech Identification,” Int. J. of Advanced Computer Science and Applications (IJACSA), vol. 15, no. 5, pp. 1–8, Jan. 2024. DOI: 10.14569/IJACSA.2024.01505118</a:t>
            </a:r>
            <a:endParaRPr lang="en-US" sz="24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AC9831DF-A409-9AAE-AAC5-5CCBD46DF9BB}"/>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D3AA59B0-48A7-2D90-7C3B-A467A091A507}"/>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25B165C8-205B-B108-C0F1-45CF8C7C160D}"/>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754DFF74-908A-C1B6-E505-8586C90C17BA}"/>
              </a:ext>
            </a:extLst>
          </p:cNvPr>
          <p:cNvSpPr txBox="1"/>
          <p:nvPr/>
        </p:nvSpPr>
        <p:spPr>
          <a:xfrm>
            <a:off x="4427160" y="1124844"/>
            <a:ext cx="784890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0" u="sng" strike="noStrike" kern="1200" cap="none" spc="0" normalizeH="0" baseline="0" noProof="0" dirty="0">
                <a:ln>
                  <a:noFill/>
                </a:ln>
                <a:solidFill>
                  <a:prstClr val="black"/>
                </a:solidFill>
                <a:effectLst/>
                <a:uLnTx/>
                <a:uFillTx/>
                <a:latin typeface="Times New Roman" panose="02020603050405020304" pitchFamily="18" charset="0"/>
                <a:ea typeface="Calibri"/>
                <a:cs typeface="Times New Roman" panose="02020603050405020304" pitchFamily="18" charset="0"/>
              </a:rPr>
              <a:t>REFERENCES</a:t>
            </a:r>
          </a:p>
        </p:txBody>
      </p:sp>
      <p:sp>
        <p:nvSpPr>
          <p:cNvPr id="2" name="TextBox 8">
            <a:extLst>
              <a:ext uri="{FF2B5EF4-FFF2-40B4-BE49-F238E27FC236}">
                <a16:creationId xmlns:a16="http://schemas.microsoft.com/office/drawing/2014/main" id="{DB5ECB8A-D733-E247-E6F0-0AC7D401ABF0}"/>
              </a:ext>
            </a:extLst>
          </p:cNvPr>
          <p:cNvSpPr txBox="1"/>
          <p:nvPr/>
        </p:nvSpPr>
        <p:spPr>
          <a:xfrm>
            <a:off x="5240741" y="6440560"/>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607239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9A09-80F3-42C6-2294-0586EA41DA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DD75E8-1960-ADA6-9C2F-88563F6A00AF}"/>
              </a:ext>
            </a:extLst>
          </p:cNvPr>
          <p:cNvSpPr>
            <a:spLocks noGrp="1"/>
          </p:cNvSpPr>
          <p:nvPr>
            <p:ph idx="1"/>
          </p:nvPr>
        </p:nvSpPr>
        <p:spPr>
          <a:xfrm>
            <a:off x="725557" y="1698520"/>
            <a:ext cx="10515600" cy="4351338"/>
          </a:xfrm>
        </p:spPr>
        <p:txBody>
          <a:bodyPr>
            <a:noAutofit/>
          </a:bodyPr>
          <a:lstStyle/>
          <a:p>
            <a:pPr marL="0" indent="0">
              <a:buNone/>
            </a:pPr>
            <a:r>
              <a:rPr lang="en-IN" sz="2000" dirty="0"/>
              <a:t>[9]P. N. Singh and S. Behera, “The Transformers’ Ability to Implement for Solving Intricacies of Language Processing,” 2022 2nd Asian Conference on Innovation in Technology (ASIANCON), Pune, India, pp. 1–6, Aug. 2022. </a:t>
            </a:r>
          </a:p>
          <a:p>
            <a:pPr marL="0" indent="0">
              <a:buNone/>
            </a:pPr>
            <a:r>
              <a:rPr lang="en-IN" sz="2000" dirty="0"/>
              <a:t>[10] N. Messina, F. Falchi, A. </a:t>
            </a:r>
            <a:r>
              <a:rPr lang="en-IN" sz="2000" dirty="0" err="1"/>
              <a:t>Esuli</a:t>
            </a:r>
            <a:r>
              <a:rPr lang="en-IN" sz="2000" dirty="0"/>
              <a:t>, and G. Amato, “Transformer Reasoning Network for Image-Text Matching and Retrieval,” Proc. 25th Int. Conf. on Pattern Recognition (ICPR), pp. 5222–5229, 2021</a:t>
            </a:r>
          </a:p>
          <a:p>
            <a:pPr marL="0" indent="0">
              <a:buNone/>
            </a:pPr>
            <a:r>
              <a:rPr lang="en-IN" sz="2000" dirty="0"/>
              <a:t> [11] Charan Kumar V., Darshan B., Chinmay Gowda, Lakshmi Prasad D. Yadav, and Charishma G., “AI Powered Multimodal Content Moderation for Online Safety in Social Media Platforms,” Proc. Int. Conf. on Computer Science and Engineering (IC-CSE), Alva’s Institute of Engineering and Technology, </a:t>
            </a:r>
            <a:r>
              <a:rPr lang="en-IN" sz="2000" dirty="0" err="1"/>
              <a:t>Moodbidri</a:t>
            </a:r>
            <a:r>
              <a:rPr lang="en-IN" sz="2000" dirty="0"/>
              <a:t>, India, 2025. </a:t>
            </a:r>
          </a:p>
          <a:p>
            <a:pPr marL="0" indent="0">
              <a:buNone/>
            </a:pPr>
            <a:r>
              <a:rPr lang="en-IN" sz="2000" dirty="0"/>
              <a:t>[12] M. </a:t>
            </a:r>
            <a:r>
              <a:rPr lang="en-IN" sz="2000" dirty="0" err="1"/>
              <a:t>Stappen</a:t>
            </a:r>
            <a:r>
              <a:rPr lang="en-IN" sz="2000" dirty="0"/>
              <a:t>, C. </a:t>
            </a:r>
            <a:r>
              <a:rPr lang="en-IN" sz="2000" dirty="0" err="1"/>
              <a:t>Koutlis</a:t>
            </a:r>
            <a:r>
              <a:rPr lang="en-IN" sz="2000" dirty="0"/>
              <a:t>, H. Muller, and B. Schuller, “A comprehensive ¨ survey on multimodal content moderation: Vision, language, and beyond,” Artificial Intelligence Review, vol. 58, no. 6, pp. 1–45, 2025, </a:t>
            </a:r>
            <a:r>
              <a:rPr lang="en-IN" sz="2000" dirty="0" err="1"/>
              <a:t>doi</a:t>
            </a:r>
            <a:r>
              <a:rPr lang="en-IN" sz="2000" dirty="0"/>
              <a:t>: 10.1007/s10462-025-11328-1.</a:t>
            </a:r>
            <a:endParaRPr lang="en-US" sz="2000" dirty="0">
              <a:latin typeface="Arial" panose="020B0604020202020204" pitchFamily="34" charset="0"/>
              <a:cs typeface="Arial" panose="020B0604020202020204" pitchFamily="34" charset="0"/>
            </a:endParaRPr>
          </a:p>
        </p:txBody>
      </p:sp>
      <p:sp>
        <p:nvSpPr>
          <p:cNvPr id="4" name="Text 2">
            <a:extLst>
              <a:ext uri="{FF2B5EF4-FFF2-40B4-BE49-F238E27FC236}">
                <a16:creationId xmlns:a16="http://schemas.microsoft.com/office/drawing/2014/main" id="{10883B39-3BD2-654C-4A09-C0B3A6C4D0F9}"/>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87E17250-0EB3-E60C-A85D-81FD0F179197}"/>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DE59B871-3425-3174-F3DA-E4F986E5699A}"/>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0A42F8D4-1336-8794-AE35-E88EC02C380F}"/>
              </a:ext>
            </a:extLst>
          </p:cNvPr>
          <p:cNvSpPr txBox="1"/>
          <p:nvPr/>
        </p:nvSpPr>
        <p:spPr>
          <a:xfrm>
            <a:off x="4343092" y="1117038"/>
            <a:ext cx="784890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i="0" u="sng" strike="noStrike" kern="1200" cap="none" spc="0" normalizeH="0" baseline="0" noProof="0" dirty="0">
                <a:ln>
                  <a:noFill/>
                </a:ln>
                <a:solidFill>
                  <a:prstClr val="black"/>
                </a:solidFill>
                <a:effectLst/>
                <a:uLnTx/>
                <a:uFillTx/>
                <a:latin typeface="Times New Roman" panose="02020603050405020304" pitchFamily="18" charset="0"/>
                <a:ea typeface="Calibri"/>
                <a:cs typeface="Times New Roman" panose="02020603050405020304" pitchFamily="18" charset="0"/>
              </a:rPr>
              <a:t>REFERENCES</a:t>
            </a:r>
          </a:p>
        </p:txBody>
      </p:sp>
      <p:sp>
        <p:nvSpPr>
          <p:cNvPr id="2" name="TextBox 8">
            <a:extLst>
              <a:ext uri="{FF2B5EF4-FFF2-40B4-BE49-F238E27FC236}">
                <a16:creationId xmlns:a16="http://schemas.microsoft.com/office/drawing/2014/main" id="{68EA3F1B-414A-CE8D-5571-BCA762E7E127}"/>
              </a:ext>
            </a:extLst>
          </p:cNvPr>
          <p:cNvSpPr txBox="1"/>
          <p:nvPr/>
        </p:nvSpPr>
        <p:spPr>
          <a:xfrm>
            <a:off x="5427728" y="6347714"/>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309990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5694E-0D11-8B0D-5373-914C1FD8C9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9CE41C-8D7D-9A87-0C4F-CB45CD11FEB0}"/>
              </a:ext>
            </a:extLst>
          </p:cNvPr>
          <p:cNvSpPr>
            <a:spLocks noGrp="1"/>
          </p:cNvSpPr>
          <p:nvPr>
            <p:ph idx="1"/>
          </p:nvPr>
        </p:nvSpPr>
        <p:spPr/>
        <p:txBody>
          <a:bodyPr>
            <a:normAutofit/>
          </a:bodyPr>
          <a:lstStyle/>
          <a:p>
            <a:pPr marL="0" indent="0">
              <a:buNone/>
            </a:pPr>
            <a:r>
              <a:rPr lang="en-IN" sz="2400" b="1" dirty="0"/>
              <a:t>Conclusion:</a:t>
            </a:r>
            <a:endParaRPr lang="en-IN" sz="2400" dirty="0"/>
          </a:p>
          <a:p>
            <a:r>
              <a:rPr lang="en-IN" sz="2400" dirty="0"/>
              <a:t>Built a multimodal moderation system (BERT + </a:t>
            </a:r>
            <a:r>
              <a:rPr lang="en-IN" sz="2400" dirty="0" err="1"/>
              <a:t>ViT</a:t>
            </a:r>
            <a:r>
              <a:rPr lang="en-IN" sz="2400" dirty="0"/>
              <a:t>) with Hugging Face.</a:t>
            </a:r>
          </a:p>
          <a:p>
            <a:r>
              <a:rPr lang="en-IN" sz="2400" dirty="0"/>
              <a:t>Outperformed unimodal baselines in accuracy and F1-score.</a:t>
            </a:r>
          </a:p>
          <a:p>
            <a:r>
              <a:rPr lang="en-IN" sz="2400" dirty="0"/>
              <a:t>Reduced false positives/negatives, improving reliability.</a:t>
            </a:r>
          </a:p>
          <a:p>
            <a:pPr marL="0" indent="0">
              <a:buNone/>
            </a:pPr>
            <a:r>
              <a:rPr lang="en-IN" sz="2400" b="1" dirty="0"/>
              <a:t>Future Scope:</a:t>
            </a:r>
            <a:endParaRPr lang="en-IN" sz="2400" dirty="0"/>
          </a:p>
          <a:p>
            <a:r>
              <a:rPr lang="en-IN" sz="2400" dirty="0"/>
              <a:t>Add cross-modal attention for better text–image reasoning.</a:t>
            </a:r>
          </a:p>
          <a:p>
            <a:r>
              <a:rPr lang="en-IN" sz="2400" dirty="0"/>
              <a:t>Expand to multilingual and diverse datasets.</a:t>
            </a:r>
          </a:p>
          <a:p>
            <a:r>
              <a:rPr lang="en-IN" sz="2400" dirty="0"/>
              <a:t>Apply fairness-aware training to reduce bias.</a:t>
            </a:r>
          </a:p>
          <a:p>
            <a:r>
              <a:rPr lang="en-IN" sz="2400" dirty="0"/>
              <a:t>Enable real-time deployment on social media platforms.</a:t>
            </a:r>
          </a:p>
          <a:p>
            <a:pPr marL="0" indent="0">
              <a:buNone/>
            </a:pPr>
            <a:endParaRPr lang="en-US" sz="2400" dirty="0"/>
          </a:p>
        </p:txBody>
      </p:sp>
      <p:sp>
        <p:nvSpPr>
          <p:cNvPr id="4" name="Text 2">
            <a:extLst>
              <a:ext uri="{FF2B5EF4-FFF2-40B4-BE49-F238E27FC236}">
                <a16:creationId xmlns:a16="http://schemas.microsoft.com/office/drawing/2014/main" id="{5F70042F-BF30-0B49-860F-B7950BC333D0}"/>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FE1E1C13-975C-6195-9073-B81A370F82B2}"/>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E73809C5-CCE2-A925-DC61-B31B32CC47A5}"/>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8" name="TextBox 7">
            <a:extLst>
              <a:ext uri="{FF2B5EF4-FFF2-40B4-BE49-F238E27FC236}">
                <a16:creationId xmlns:a16="http://schemas.microsoft.com/office/drawing/2014/main" id="{74388218-CFE4-4A6C-F216-E986582602F5}"/>
              </a:ext>
            </a:extLst>
          </p:cNvPr>
          <p:cNvSpPr txBox="1"/>
          <p:nvPr/>
        </p:nvSpPr>
        <p:spPr>
          <a:xfrm>
            <a:off x="2906746" y="1102361"/>
            <a:ext cx="7848908"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b="1" u="sng" dirty="0">
                <a:solidFill>
                  <a:prstClr val="black"/>
                </a:solidFill>
                <a:latin typeface="Times New Roman" panose="02020603050405020304" pitchFamily="18" charset="0"/>
                <a:ea typeface="Calibri"/>
                <a:cs typeface="Times New Roman" panose="02020603050405020304" pitchFamily="18" charset="0"/>
              </a:rPr>
              <a:t>CONCLUSION AND FUTURE SCOPE</a:t>
            </a:r>
            <a:endParaRPr lang="en-US" sz="2800" b="1" i="0" u="sng" strike="noStrike" kern="1200" cap="none" spc="0" normalizeH="0" baseline="0" noProof="0" dirty="0">
              <a:ln>
                <a:noFill/>
              </a:ln>
              <a:solidFill>
                <a:prstClr val="black"/>
              </a:solidFill>
              <a:effectLst/>
              <a:uLnTx/>
              <a:uFillTx/>
              <a:latin typeface="Times New Roman" panose="02020603050405020304" pitchFamily="18" charset="0"/>
              <a:ea typeface="Calibri"/>
              <a:cs typeface="Times New Roman" panose="02020603050405020304" pitchFamily="18" charset="0"/>
            </a:endParaRPr>
          </a:p>
        </p:txBody>
      </p:sp>
      <p:sp>
        <p:nvSpPr>
          <p:cNvPr id="2" name="TextBox 8">
            <a:extLst>
              <a:ext uri="{FF2B5EF4-FFF2-40B4-BE49-F238E27FC236}">
                <a16:creationId xmlns:a16="http://schemas.microsoft.com/office/drawing/2014/main" id="{B3DB4055-58EE-93D8-1A72-AD75E3DC1210}"/>
              </a:ext>
            </a:extLst>
          </p:cNvPr>
          <p:cNvSpPr txBox="1"/>
          <p:nvPr/>
        </p:nvSpPr>
        <p:spPr>
          <a:xfrm>
            <a:off x="5240741" y="6315853"/>
            <a:ext cx="1336544" cy="341888"/>
          </a:xfrm>
          <a:prstGeom prst="rect">
            <a:avLst/>
          </a:prstGeom>
        </p:spPr>
        <p:txBody>
          <a:bodyPr wrap="square" lIns="0" tIns="0" rIns="0" bIns="0" rtlCol="0" anchor="t">
            <a:spAutoFit/>
          </a:bodyPr>
          <a:lstStyle/>
          <a:p>
            <a:pPr algn="ctr">
              <a:lnSpc>
                <a:spcPts val="2800"/>
              </a:lnSpc>
              <a:spcBef>
                <a:spcPct val="0"/>
              </a:spcBef>
            </a:pPr>
            <a:r>
              <a:rPr lang="en-US" sz="2000" dirty="0">
                <a:solidFill>
                  <a:srgbClr val="000000"/>
                </a:solidFill>
                <a:latin typeface="Times New Roman Bold" panose="02030802070405020303"/>
              </a:rPr>
              <a:t>ICECA-131</a:t>
            </a:r>
          </a:p>
        </p:txBody>
      </p:sp>
    </p:spTree>
    <p:extLst>
      <p:ext uri="{BB962C8B-B14F-4D97-AF65-F5344CB8AC3E}">
        <p14:creationId xmlns:p14="http://schemas.microsoft.com/office/powerpoint/2010/main" val="2821721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15CAE-BD57-8BC0-9DC1-D2C7E9904E6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6EF3AE9-FCC3-D382-9F02-D81833EFE34A}"/>
              </a:ext>
            </a:extLst>
          </p:cNvPr>
          <p:cNvSpPr/>
          <p:nvPr/>
        </p:nvSpPr>
        <p:spPr>
          <a:xfrm>
            <a:off x="6282988" y="2715607"/>
            <a:ext cx="6442412" cy="4422913"/>
          </a:xfrm>
          <a:prstGeom prst="rect">
            <a:avLst/>
          </a:prstGeom>
          <a:noFill/>
          <a:ln/>
        </p:spPr>
        <p:txBody>
          <a:bodyPr wrap="square" rtlCol="0" anchor="t"/>
          <a:lstStyle/>
          <a:p>
            <a:pPr marL="0" marR="0" lvl="0" indent="0" algn="l" defTabSz="914400" rtl="0" eaLnBrk="1" fontAlgn="auto" latinLnBrk="0" hangingPunct="1">
              <a:lnSpc>
                <a:spcPts val="2717"/>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5" name="Rectangle 4">
            <a:extLst>
              <a:ext uri="{FF2B5EF4-FFF2-40B4-BE49-F238E27FC236}">
                <a16:creationId xmlns:a16="http://schemas.microsoft.com/office/drawing/2014/main" id="{B76BC7F1-E010-EE76-893D-EA4E27B048B3}"/>
              </a:ext>
            </a:extLst>
          </p:cNvPr>
          <p:cNvSpPr/>
          <p:nvPr/>
        </p:nvSpPr>
        <p:spPr>
          <a:xfrm>
            <a:off x="0" y="-1"/>
            <a:ext cx="12192000" cy="1058777"/>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180975" lvl="0" indent="0" algn="ctr" defTabSz="914400" rtl="0" eaLnBrk="1" fontAlgn="auto" latinLnBrk="0" hangingPunct="1">
              <a:lnSpc>
                <a:spcPct val="100000"/>
              </a:lnSpc>
              <a:spcBef>
                <a:spcPts val="29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ALVA’S</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INSTITUTE</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OF</a:t>
            </a:r>
            <a:r>
              <a:rPr kumimoji="0" lang="en-US" sz="1800" b="1" i="0" u="none" strike="noStrike" kern="1200" cap="none" spc="-1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ENGINEERING</a:t>
            </a:r>
            <a:r>
              <a:rPr kumimoji="0" lang="en-US" sz="1800" b="1" i="0" u="none" strike="noStrike" kern="1200" cap="none" spc="-2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AND</a:t>
            </a:r>
            <a:r>
              <a:rPr kumimoji="0" lang="en-US" sz="1800" b="1" i="0" u="none" strike="noStrike" kern="1200" cap="none" spc="-2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TECHNOLOGY</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MIJAR, MOODBIDRI D.K. -574225 ,MANGALORE,KARNATAKA</a:t>
            </a:r>
            <a:r>
              <a:rPr kumimoji="0" lang="en-US" sz="1800" b="1" i="0" u="none" strike="noStrike" kern="1200" cap="none" spc="-335" normalizeH="0" baseline="0" noProof="0" dirty="0">
                <a:ln>
                  <a:noFill/>
                </a:ln>
                <a:solidFill>
                  <a:srgbClr val="1CADE4">
                    <a:lumMod val="20000"/>
                    <a:lumOff val="80000"/>
                  </a:srgbClr>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 </a:t>
            </a:r>
            <a:endParaRPr kumimoji="0" lang="en-IN" sz="1800" b="1" i="0" u="none" strike="noStrike" kern="1200" cap="none" spc="0" normalizeH="0" baseline="0" noProof="0" dirty="0">
              <a:ln>
                <a:noFill/>
              </a:ln>
              <a:solidFill>
                <a:srgbClr val="1CADE4">
                  <a:lumMod val="20000"/>
                  <a:lumOff val="80000"/>
                </a:srgbClr>
              </a:solidFill>
              <a:effectLst/>
              <a:uLnTx/>
              <a:uFillTx/>
              <a:latin typeface="Times New Roman" panose="02020603050405020304" pitchFamily="18" charset="0"/>
              <a:ea typeface="+mn-ea"/>
              <a:cs typeface="Times New Roman" panose="02020603050405020304" pitchFamily="18" charset="0"/>
            </a:endParaRPr>
          </a:p>
        </p:txBody>
      </p:sp>
      <p:pic>
        <p:nvPicPr>
          <p:cNvPr id="6" name="image2.jpeg" descr="logo">
            <a:extLst>
              <a:ext uri="{FF2B5EF4-FFF2-40B4-BE49-F238E27FC236}">
                <a16:creationId xmlns:a16="http://schemas.microsoft.com/office/drawing/2014/main" id="{C7ACB90F-ED90-4260-245A-2E82348A889C}"/>
              </a:ext>
            </a:extLst>
          </p:cNvPr>
          <p:cNvPicPr>
            <a:picLocks noChangeAspect="1"/>
          </p:cNvPicPr>
          <p:nvPr/>
        </p:nvPicPr>
        <p:blipFill>
          <a:blip r:embed="rId2" cstate="print"/>
          <a:stretch>
            <a:fillRect/>
          </a:stretch>
        </p:blipFill>
        <p:spPr>
          <a:xfrm>
            <a:off x="242399" y="74950"/>
            <a:ext cx="966316" cy="908874"/>
          </a:xfrm>
          <a:prstGeom prst="rect">
            <a:avLst/>
          </a:prstGeom>
        </p:spPr>
      </p:pic>
      <p:sp>
        <p:nvSpPr>
          <p:cNvPr id="3" name="Content Placeholder 2">
            <a:extLst>
              <a:ext uri="{FF2B5EF4-FFF2-40B4-BE49-F238E27FC236}">
                <a16:creationId xmlns:a16="http://schemas.microsoft.com/office/drawing/2014/main" id="{474AE77B-2145-06D2-5E7F-987E5BB75C46}"/>
              </a:ext>
            </a:extLst>
          </p:cNvPr>
          <p:cNvSpPr>
            <a:spLocks noGrp="1"/>
          </p:cNvSpPr>
          <p:nvPr>
            <p:ph idx="1"/>
          </p:nvPr>
        </p:nvSpPr>
        <p:spPr>
          <a:xfrm>
            <a:off x="1447800" y="2225675"/>
            <a:ext cx="10515600" cy="4351338"/>
          </a:xfrm>
        </p:spPr>
        <p:txBody>
          <a:bodyPr/>
          <a:lstStyle/>
          <a:p>
            <a:pPr marL="0" indent="0">
              <a:buNone/>
            </a:pPr>
            <a:endParaRPr lang="en-US" dirty="0"/>
          </a:p>
          <a:p>
            <a:pPr marL="0" indent="0">
              <a:buNone/>
            </a:pPr>
            <a:endParaRPr lang="en-US" dirty="0"/>
          </a:p>
          <a:p>
            <a:pPr marL="0" indent="0">
              <a:buNone/>
            </a:pPr>
            <a:r>
              <a:rPr lang="en-US" sz="4800" dirty="0"/>
              <a:t>                    </a:t>
            </a:r>
            <a:r>
              <a:rPr lang="en-US" sz="4800" b="1" dirty="0"/>
              <a:t>THANK YOU!! </a:t>
            </a:r>
          </a:p>
          <a:p>
            <a:pPr marL="0" indent="0">
              <a:buNone/>
            </a:pPr>
            <a:endParaRPr lang="en-US" dirty="0"/>
          </a:p>
        </p:txBody>
      </p:sp>
    </p:spTree>
    <p:extLst>
      <p:ext uri="{BB962C8B-B14F-4D97-AF65-F5344CB8AC3E}">
        <p14:creationId xmlns:p14="http://schemas.microsoft.com/office/powerpoint/2010/main" val="3171872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2173</TotalTime>
  <Words>1712</Words>
  <Application>Microsoft Office PowerPoint</Application>
  <PresentationFormat>Widescreen</PresentationFormat>
  <Paragraphs>140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Bhagyashree Naik</dc:creator>
  <cp:lastModifiedBy>Akhifa Sheik</cp:lastModifiedBy>
  <cp:revision>32</cp:revision>
  <dcterms:created xsi:type="dcterms:W3CDTF">2025-03-07T16:52:49Z</dcterms:created>
  <dcterms:modified xsi:type="dcterms:W3CDTF">2025-11-06T09:20:06Z</dcterms:modified>
</cp:coreProperties>
</file>